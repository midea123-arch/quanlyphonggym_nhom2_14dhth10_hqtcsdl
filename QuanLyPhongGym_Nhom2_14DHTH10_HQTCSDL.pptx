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62" r:id="rId14"/>
    <p:sldId id="263" r:id="rId15"/>
    <p:sldId id="264" r:id="rId16"/>
    <p:sldId id="265" r:id="rId17"/>
    <p:sldId id="272" r:id="rId18"/>
    <p:sldId id="273" r:id="rId19"/>
    <p:sldId id="274" r:id="rId20"/>
    <p:sldId id="277" r:id="rId21"/>
    <p:sldId id="278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80" r:id="rId40"/>
    <p:sldId id="281" r:id="rId4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78BC90E-8F70-410E-97D3-1BB7E70F2FC2}">
          <p14:sldIdLst>
            <p14:sldId id="256"/>
            <p14:sldId id="257"/>
            <p14:sldId id="258"/>
            <p14:sldId id="259"/>
            <p14:sldId id="260"/>
            <p14:sldId id="261"/>
            <p14:sldId id="266"/>
            <p14:sldId id="267"/>
            <p14:sldId id="268"/>
            <p14:sldId id="269"/>
            <p14:sldId id="270"/>
            <p14:sldId id="271"/>
            <p14:sldId id="262"/>
            <p14:sldId id="263"/>
            <p14:sldId id="264"/>
            <p14:sldId id="265"/>
          </p14:sldIdLst>
        </p14:section>
        <p14:section name="Ngà" id="{8EE3C32E-0CF5-4E46-817E-14175AA29C0D}">
          <p14:sldIdLst>
            <p14:sldId id="272"/>
            <p14:sldId id="273"/>
            <p14:sldId id="274"/>
            <p14:sldId id="277"/>
            <p14:sldId id="278"/>
          </p14:sldIdLst>
        </p14:section>
        <p14:section name="Thuận Oc" id="{03376C64-56AB-4F05-8E59-0FC85D33C184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Long" id="{87EED1AE-4B2C-451D-BACD-3C3CEA3BCB86}">
          <p14:sldIdLst>
            <p14:sldId id="290"/>
            <p14:sldId id="291"/>
            <p14:sldId id="292"/>
            <p14:sldId id="293"/>
            <p14:sldId id="294"/>
          </p14:sldIdLst>
        </p14:section>
        <p14:section name="Thành" id="{DEE6FE8F-8719-4D39-AEF4-3A1367CE65E8}">
          <p14:sldIdLst>
            <p14:sldId id="295"/>
            <p14:sldId id="296"/>
            <p14:sldId id="297"/>
            <p14:sldId id="298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20BEB7-73ED-DB9D-3FCC-9B8F3F991E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157F2-9C31-7CF7-07A3-F4A3858142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DAFDD-3363-4C83-A5A7-14DDA02B93C3}" type="datetimeFigureOut">
              <a:rPr lang="vi-VN" smtClean="0"/>
              <a:t>02/12/2025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E7EF0-750E-45E3-4039-C2D97CA477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747CC-7BC8-AF6B-ACDF-BA5F4FEF27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C00E0-0559-42ED-93A2-D1C31410A18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26656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AF01DE-3476-454D-A856-5369DDFCB952}" type="datetimeFigureOut">
              <a:rPr lang="vi-VN" smtClean="0"/>
              <a:t>02/12/2025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15FFE-E38B-4721-9A9E-B2B8AA0F96E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793054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4A6ED-37E7-41EC-87BE-715F787E0DF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06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0" dirty="0"/>
              <a:t>Công dụng</a:t>
            </a:r>
          </a:p>
          <a:p>
            <a:r>
              <a:rPr lang="vi-VN" b="0" dirty="0"/>
              <a:t>Khi Admin thực hiện xóa một Loại Sản Phẩm, trigger này sẽ tự động xóa tất cả dữ liệu liên quan, bao gồm:</a:t>
            </a:r>
          </a:p>
          <a:p>
            <a:pPr lvl="1"/>
            <a:r>
              <a:rPr lang="vi-VN" b="0" dirty="0"/>
              <a:t>Xóa toàn bộ hình ảnh thuộc các sản phẩm trong loại đó.</a:t>
            </a:r>
          </a:p>
          <a:p>
            <a:pPr lvl="1"/>
            <a:r>
              <a:rPr lang="vi-VN" b="0" dirty="0"/>
              <a:t>Xóa toàn bộ sản phẩm thuộc loại đó.</a:t>
            </a:r>
          </a:p>
          <a:p>
            <a:pPr lvl="1"/>
            <a:r>
              <a:rPr lang="vi-VN" b="0" dirty="0"/>
              <a:t>Cuối cùng, xóa chính Loại Sản Phẩm.</a:t>
            </a:r>
          </a:p>
          <a:p>
            <a:r>
              <a:rPr lang="vi-VN" b="0" dirty="0"/>
              <a:t>Đảm bảo không để lại dữ liệu rác, tránh vi phạm khóa ngoại và giữ toàn vẹn dữ liệu trong hệ thống.</a:t>
            </a:r>
          </a:p>
          <a:p>
            <a:r>
              <a:rPr lang="vi-VN" b="0" dirty="0"/>
              <a:t>Giải thích cơ chế</a:t>
            </a:r>
          </a:p>
          <a:p>
            <a:r>
              <a:rPr lang="vi-VN" b="0" dirty="0"/>
              <a:t>Sử dụng INSTEAD OF DELETE để ngăn thao tác xóa mặc định.</a:t>
            </a:r>
          </a:p>
          <a:p>
            <a:r>
              <a:rPr lang="vi-VN" b="0" dirty="0"/>
              <a:t>Duyệt từng ID loại bằng con trỏ (</a:t>
            </a:r>
            <a:r>
              <a:rPr lang="vi-V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cursor</a:t>
            </a:r>
            <a:r>
              <a:rPr lang="vi-VN" b="0" dirty="0"/>
              <a:t>).</a:t>
            </a:r>
          </a:p>
          <a:p>
            <a:r>
              <a:rPr lang="vi-VN" b="0" dirty="0"/>
              <a:t>Với mỗi loại → duyệt tiếp từng sản phẩm trong loại để xóa theo thứ tự:</a:t>
            </a:r>
            <a:br>
              <a:rPr lang="vi-VN" b="0" dirty="0"/>
            </a:br>
            <a:r>
              <a:rPr lang="vi-VN" b="0" dirty="0"/>
              <a:t>Hình Ảnh → Sản Phẩm → Loại Sản Phẩm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4A6ED-37E7-41EC-87BE-715F787E0DF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51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69B8-0737-E6D3-E6D6-57EA0D9DF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05B3A-AEC8-4B48-ADFD-C8D6D8372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40A41-0996-B5CA-A9F4-6F6A68DE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3BA6B-375B-4811-85AA-D58C1A7F39B6}" type="datetime1">
              <a:rPr lang="vi-VN" smtClean="0"/>
              <a:t>02/12/2025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07ED1-FD2A-FE23-46E4-82E135378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F634A-68E3-A08B-15EF-9E0B5E2A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0397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66CEC-14FA-87B7-4CC2-8FE4BD495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EF252-FC1C-93F7-1B8F-56FD92F92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E7A3-08C4-841F-B48F-94DD0789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E762C-BA60-4745-AD4A-5485D142B3E1}" type="datetime1">
              <a:rPr lang="vi-VN" smtClean="0"/>
              <a:t>02/12/2025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D3222-C777-5F40-BA13-73C5E027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BE732-C967-DEAC-29D0-14F10FB3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36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1E99-C4F8-A53B-6F2B-66523F1D0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6C291-492F-A574-7239-F2E7B7EC3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331EA-3C8F-A03D-A16A-16901AB18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D0860-7999-4EC3-BD09-623EA6F15A21}" type="datetime1">
              <a:rPr lang="vi-VN" smtClean="0"/>
              <a:t>02/12/2025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015D1-EFC2-BD54-B93C-B86356BD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712EB-C798-8CE4-740F-B50EB8C5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4790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E42C-6424-B026-8319-30D98B34D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7D6EF-98EF-8C45-EDBD-98D5949E0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4E507-0EA2-E16B-DC06-A599896ED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458BB-A7CE-652D-3D42-5F2B6E0BD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A878F-7862-4DBD-9911-2462D165621D}" type="datetime1">
              <a:rPr lang="vi-VN" smtClean="0"/>
              <a:t>02/12/2025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5F34C-34E7-F307-EDB3-48F746E9A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FBD5A-31A8-5B8E-E660-D2D6F27F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51572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3F35-08E9-2884-B1A0-01646341F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041E3-B6FB-DE6A-5188-95265083A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0B4C0-3559-773A-BBFA-77013A5A6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23B130-6C78-6B10-6083-2FBC03FD7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D48C0-E43F-A5C8-BA97-E6DDB4D5A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B1C194-EC39-A6E9-4BE0-C8ED80C21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B682-5BE1-4FBE-B514-FCCFBD474FAB}" type="datetime1">
              <a:rPr lang="vi-VN" smtClean="0"/>
              <a:t>02/12/2025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7F871E-9415-E95F-C9D3-A78AF46D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7D8920-8D03-5832-32DE-D6567F2A9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4680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B94A-624E-8C86-693B-A760DBA4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6FC725-91B9-596B-0B15-B9716E16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A840-9E63-4F97-8728-5F8CC9974AD6}" type="datetime1">
              <a:rPr lang="vi-VN" smtClean="0"/>
              <a:t>02/12/2025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70C74-8765-7ACB-4E63-713255EB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3CAE7-CAFD-180B-2634-D23462B4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387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ABD33-0833-5C2D-563F-BF39D7A3B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11897-8062-4D39-8815-D8176CEFDCC5}" type="datetime1">
              <a:rPr lang="vi-VN" smtClean="0"/>
              <a:t>02/12/2025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4EA16D-848B-2457-C044-488D01C9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CDEB8-87A3-149C-96BD-D05FC76C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154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8BA1-2556-552A-35F5-4C87B0DDE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6F9EB-934F-E934-020A-0998C70DE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FF018-A4CC-9831-0EAA-EBA33C731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48CE7-7AEC-BC18-940D-998CCCB8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ECCD2-C919-41E9-8912-F5EB8055E5EB}" type="datetime1">
              <a:rPr lang="vi-VN" smtClean="0"/>
              <a:t>02/12/2025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18F7B-33D2-D64D-8E09-66E83520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FC2E5-CAF0-63FA-983C-A6D5BA9D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00826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520A-48F9-BF7F-84FA-AFD303A63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B9E87F-9762-399F-64D1-17F36787A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3B110-73AB-A92C-02E9-3CD3CC13F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CC38B-61B8-8BA3-88B1-45A07A09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85FD9-32D2-4BF0-B3B3-AF08A8840ACA}" type="datetime1">
              <a:rPr lang="vi-VN" smtClean="0"/>
              <a:t>02/12/2025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472CB-3DE7-2A2F-EEFE-2937C9F20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5B9C6-9B72-055D-025D-896CA3516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2752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7CE5E-E6A1-B750-CE1F-DA564A81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E8FBE-E379-34B2-F7AE-E5AE46484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31CAA-4957-A1AF-4A5C-718A0309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299F-ADD8-4A84-82A3-2476DA0215A0}" type="datetime1">
              <a:rPr lang="vi-VN" smtClean="0"/>
              <a:t>02/12/2025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6D15F-0371-8C86-CBCF-5E34F6273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BCFC7-5650-4EA1-DC4A-8386DEA3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376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4B350-C064-D86F-1ECD-586F7642FB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C1592-F3AF-F8C2-A34A-06F7DFBDB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BDA39-FBFB-7EBF-C4E4-A679D8F21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6DCE-6023-4132-8A7C-66F4660842AB}" type="datetime1">
              <a:rPr lang="vi-VN" smtClean="0"/>
              <a:t>02/12/2025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E48C3-63D2-87AC-3501-A4F1B8187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313B-33A0-3B61-BF30-DAEB7BFE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2626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2461FC-EE22-4557-6E1C-9B5BB9F4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33D4D-0BEE-3267-BC3B-716EED9FA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EC7FB-A97E-231C-1615-2D3E597A80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52A66-541B-41AC-9A84-618BA19DA614}" type="datetime1">
              <a:rPr lang="vi-VN" smtClean="0"/>
              <a:t>02/12/2025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DC323-3D26-AA25-5100-12D879559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D3285-D182-D86E-439F-D3D40EEB3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F2D2-2AA0-431F-9854-B2521847CC2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2236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885045-CE86-1C89-4AE2-A09F78DF4BA5}"/>
              </a:ext>
            </a:extLst>
          </p:cNvPr>
          <p:cNvSpPr txBox="1"/>
          <p:nvPr/>
        </p:nvSpPr>
        <p:spPr>
          <a:xfrm>
            <a:off x="1894840" y="1071880"/>
            <a:ext cx="84023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600" b="1" i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Ubuntu" panose="020F0502020204030204" pitchFamily="34" charset="0"/>
              </a:rPr>
              <a:t>HỆ THỐNG QUẢN LÝ</a:t>
            </a:r>
            <a:br>
              <a:rPr lang="vi-VN" sz="6600" b="1" i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Ubuntu" panose="020F0502020204030204" pitchFamily="34" charset="0"/>
              </a:rPr>
            </a:br>
            <a:r>
              <a:rPr lang="vi-VN" sz="6600" b="1" i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Ubuntu" panose="020F0502020204030204" pitchFamily="34" charset="0"/>
              </a:rPr>
              <a:t>PHÒNG GYM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BDB5D-1408-58E0-A25E-E1F60EF614A2}"/>
              </a:ext>
            </a:extLst>
          </p:cNvPr>
          <p:cNvSpPr txBox="1"/>
          <p:nvPr/>
        </p:nvSpPr>
        <p:spPr>
          <a:xfrm>
            <a:off x="1894840" y="3429000"/>
            <a:ext cx="8402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i="0" dirty="0">
                <a:effectLst/>
                <a:latin typeface="Ubuntu" panose="020B0504030602030204" pitchFamily="34" charset="0"/>
              </a:rPr>
              <a:t>Môn:</a:t>
            </a:r>
            <a:r>
              <a:rPr lang="vi-VN" sz="2400" b="0" i="0" dirty="0">
                <a:effectLst/>
                <a:latin typeface="Ubuntu" panose="020B0504030602030204" pitchFamily="34" charset="0"/>
              </a:rPr>
              <a:t> Hệ Quản Trị Cơ Sở Dữ Liệu</a:t>
            </a:r>
            <a:endParaRPr lang="vi-VN" sz="2400" b="1" i="0" dirty="0">
              <a:ln w="13462">
                <a:solidFill>
                  <a:schemeClr val="bg1"/>
                </a:solidFill>
                <a:prstDash val="solid"/>
              </a:ln>
              <a:effectLst>
                <a:outerShdw dist="38100" dir="2700000" algn="bl" rotWithShape="0">
                  <a:schemeClr val="accent5"/>
                </a:outerShdw>
              </a:effectLst>
              <a:latin typeface="Ubuntu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E70CC-1ADD-C6DE-1463-608FDAB4DE08}"/>
              </a:ext>
            </a:extLst>
          </p:cNvPr>
          <p:cNvSpPr txBox="1"/>
          <p:nvPr/>
        </p:nvSpPr>
        <p:spPr>
          <a:xfrm>
            <a:off x="8742680" y="4062701"/>
            <a:ext cx="1722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sz="2000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2:</a:t>
            </a:r>
            <a:endParaRPr lang="vi-VN" sz="2000" i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6DF13-CB7B-C9D3-F07E-055ECD71A3BB}"/>
              </a:ext>
            </a:extLst>
          </p:cNvPr>
          <p:cNvSpPr txBox="1"/>
          <p:nvPr/>
        </p:nvSpPr>
        <p:spPr>
          <a:xfrm>
            <a:off x="533400" y="4124127"/>
            <a:ext cx="3012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2000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2000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000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2000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vi-VN" sz="2000" i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F1A1BF-D195-F1E4-D416-732B2427B894}"/>
              </a:ext>
            </a:extLst>
          </p:cNvPr>
          <p:cNvSpPr txBox="1"/>
          <p:nvPr/>
        </p:nvSpPr>
        <p:spPr>
          <a:xfrm>
            <a:off x="457201" y="4619199"/>
            <a:ext cx="3012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Trần</a:t>
            </a:r>
            <a:r>
              <a:rPr lang="en-US" sz="2000" b="1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Quang Bình</a:t>
            </a:r>
            <a:endParaRPr lang="vi-VN" sz="2000" b="1" i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AB74E-FD2A-2073-9F98-D64F263B466E}"/>
              </a:ext>
            </a:extLst>
          </p:cNvPr>
          <p:cNvSpPr txBox="1"/>
          <p:nvPr/>
        </p:nvSpPr>
        <p:spPr>
          <a:xfrm>
            <a:off x="7208521" y="4543186"/>
            <a:ext cx="3632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2001230550-Nguyễn </a:t>
            </a:r>
            <a:r>
              <a:rPr lang="en-US" sz="2000" b="1" i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Ngà</a:t>
            </a:r>
            <a:endParaRPr lang="vi-VN" sz="2000" b="1" i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971FD3-35C0-3446-6153-3822E9C26F12}"/>
              </a:ext>
            </a:extLst>
          </p:cNvPr>
          <p:cNvSpPr txBox="1"/>
          <p:nvPr/>
        </p:nvSpPr>
        <p:spPr>
          <a:xfrm>
            <a:off x="7432040" y="4998076"/>
            <a:ext cx="4302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2000" b="1" i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2001222443 - Nguyễn Thành Long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EDD3B6-E664-F1C3-9CCE-D091EE3D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1</a:t>
            </a:fld>
            <a:endParaRPr lang="vi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B8BF1-F02D-BBDB-8F4C-39EB110B7F4C}"/>
              </a:ext>
            </a:extLst>
          </p:cNvPr>
          <p:cNvSpPr txBox="1"/>
          <p:nvPr/>
        </p:nvSpPr>
        <p:spPr>
          <a:xfrm>
            <a:off x="7432040" y="5452966"/>
            <a:ext cx="4627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2000" b="1" i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vi-VN" dirty="0"/>
              <a:t>2001230899 </a:t>
            </a:r>
            <a:r>
              <a:rPr lang="en-US" dirty="0"/>
              <a:t>- </a:t>
            </a:r>
            <a:r>
              <a:rPr lang="en-US" dirty="0" err="1"/>
              <a:t>Nguyễn</a:t>
            </a:r>
            <a:r>
              <a:rPr lang="en-US" dirty="0"/>
              <a:t> Hoàng Thành</a:t>
            </a:r>
            <a:endParaRPr lang="vi-V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F2546-9A12-9D9D-CEC0-F6A91B20AE1F}"/>
              </a:ext>
            </a:extLst>
          </p:cNvPr>
          <p:cNvSpPr txBox="1"/>
          <p:nvPr/>
        </p:nvSpPr>
        <p:spPr>
          <a:xfrm>
            <a:off x="7432040" y="5907856"/>
            <a:ext cx="4841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2000" b="1" i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/>
              <a:t>2001230944 - </a:t>
            </a:r>
            <a:r>
              <a:rPr lang="en-US" dirty="0" err="1"/>
              <a:t>Phạm</a:t>
            </a:r>
            <a:r>
              <a:rPr lang="en-US" dirty="0"/>
              <a:t> </a:t>
            </a:r>
            <a:r>
              <a:rPr lang="en-US" dirty="0" err="1"/>
              <a:t>Đặng</a:t>
            </a:r>
            <a:r>
              <a:rPr lang="en-US" dirty="0"/>
              <a:t> Gia </a:t>
            </a:r>
            <a:r>
              <a:rPr lang="en-US" dirty="0" err="1"/>
              <a:t>Thuận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9912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0D53B5C-FDB9-7774-32EA-B704550A3473}"/>
              </a:ext>
            </a:extLst>
          </p:cNvPr>
          <p:cNvGrpSpPr/>
          <p:nvPr/>
        </p:nvGrpSpPr>
        <p:grpSpPr>
          <a:xfrm>
            <a:off x="7002780" y="2135242"/>
            <a:ext cx="4185920" cy="4001398"/>
            <a:chOff x="7015480" y="2043802"/>
            <a:chExt cx="4185920" cy="400139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729416E-B10B-541E-919A-969804965C2C}"/>
                </a:ext>
              </a:extLst>
            </p:cNvPr>
            <p:cNvSpPr/>
            <p:nvPr/>
          </p:nvSpPr>
          <p:spPr>
            <a:xfrm>
              <a:off x="7015480" y="2043802"/>
              <a:ext cx="4104640" cy="4001398"/>
            </a:xfrm>
            <a:prstGeom prst="roundRect">
              <a:avLst>
                <a:gd name="adj" fmla="val 558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dirty="0">
                <a:solidFill>
                  <a:schemeClr val="tx1"/>
                </a:solidFill>
                <a:highlight>
                  <a:srgbClr val="808080"/>
                </a:highlight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F7714A7-4F47-243A-2ED0-9090D3DAF2F7}"/>
                </a:ext>
              </a:extLst>
            </p:cNvPr>
            <p:cNvSpPr/>
            <p:nvPr/>
          </p:nvSpPr>
          <p:spPr>
            <a:xfrm>
              <a:off x="7096760" y="2043802"/>
              <a:ext cx="4104640" cy="4001398"/>
            </a:xfrm>
            <a:prstGeom prst="roundRect">
              <a:avLst>
                <a:gd name="adj" fmla="val 558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dirty="0">
                <a:solidFill>
                  <a:schemeClr val="tx1"/>
                </a:solidFill>
                <a:highlight>
                  <a:srgbClr val="808080"/>
                </a:highlight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711200" y="492130"/>
            <a:ext cx="721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1. </a:t>
            </a:r>
            <a:r>
              <a:rPr lang="en-US" sz="4400" b="1" dirty="0" err="1"/>
              <a:t>Giới</a:t>
            </a:r>
            <a:r>
              <a:rPr lang="en-US" sz="4400" b="1" dirty="0"/>
              <a:t> </a:t>
            </a:r>
            <a:r>
              <a:rPr lang="en-US" sz="4400" b="1" dirty="0" err="1"/>
              <a:t>thiệu</a:t>
            </a:r>
            <a:r>
              <a:rPr lang="en-US" sz="4400" b="1" dirty="0"/>
              <a:t> </a:t>
            </a:r>
            <a:r>
              <a:rPr lang="en-US" sz="4400" b="1" dirty="0" err="1"/>
              <a:t>đề</a:t>
            </a:r>
            <a:r>
              <a:rPr lang="en-US" sz="4400" b="1" dirty="0"/>
              <a:t> </a:t>
            </a:r>
            <a:r>
              <a:rPr lang="en-US" sz="4400" b="1" dirty="0" err="1"/>
              <a:t>tài</a:t>
            </a:r>
            <a:endParaRPr lang="vi-VN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C4F2B-FA03-A8D0-AC4A-E49D472BDA14}"/>
              </a:ext>
            </a:extLst>
          </p:cNvPr>
          <p:cNvSpPr txBox="1"/>
          <p:nvPr/>
        </p:nvSpPr>
        <p:spPr>
          <a:xfrm>
            <a:off x="711200" y="1424354"/>
            <a:ext cx="447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1. Lý do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đề</a:t>
            </a:r>
            <a:r>
              <a:rPr lang="en-US" sz="2800" dirty="0"/>
              <a:t> </a:t>
            </a:r>
            <a:r>
              <a:rPr lang="en-US" sz="2800" dirty="0" err="1"/>
              <a:t>tài</a:t>
            </a:r>
            <a:endParaRPr lang="vi-V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EA1F07-3075-1465-F7E6-EEC08B6835F9}"/>
              </a:ext>
            </a:extLst>
          </p:cNvPr>
          <p:cNvSpPr txBox="1"/>
          <p:nvPr/>
        </p:nvSpPr>
        <p:spPr>
          <a:xfrm>
            <a:off x="1470660" y="2348199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Thực</a:t>
            </a:r>
            <a:r>
              <a:rPr lang="en-US" sz="2400" b="1" dirty="0"/>
              <a:t> </a:t>
            </a:r>
            <a:r>
              <a:rPr lang="en-US" sz="2400" b="1" dirty="0" err="1"/>
              <a:t>trạng</a:t>
            </a:r>
            <a:r>
              <a:rPr lang="en-US" sz="2400" b="1" dirty="0"/>
              <a:t> </a:t>
            </a:r>
            <a:r>
              <a:rPr lang="en-US" sz="2400" b="1" dirty="0" err="1"/>
              <a:t>hiện</a:t>
            </a:r>
            <a:r>
              <a:rPr lang="en-US" sz="2400" b="1" dirty="0"/>
              <a:t> nay</a:t>
            </a:r>
            <a:endParaRPr lang="vi-VN" sz="2400" b="1" dirty="0"/>
          </a:p>
        </p:txBody>
      </p:sp>
      <p:pic>
        <p:nvPicPr>
          <p:cNvPr id="10" name="Graphic 9" descr="Warning with solid fill">
            <a:extLst>
              <a:ext uri="{FF2B5EF4-FFF2-40B4-BE49-F238E27FC236}">
                <a16:creationId xmlns:a16="http://schemas.microsoft.com/office/drawing/2014/main" id="{9D53C86E-A697-E823-6A6B-EDC9078AD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240" y="2263456"/>
            <a:ext cx="558800" cy="558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CC2A0D-E189-2288-656B-4F5DAB6DBFC0}"/>
              </a:ext>
            </a:extLst>
          </p:cNvPr>
          <p:cNvSpPr txBox="1"/>
          <p:nvPr/>
        </p:nvSpPr>
        <p:spPr>
          <a:xfrm>
            <a:off x="800100" y="2869418"/>
            <a:ext cx="6014720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indent="0">
              <a:lnSpc>
                <a:spcPct val="150000"/>
              </a:lnSpc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  <a:defRPr sz="20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b="0" dirty="0">
                <a:solidFill>
                  <a:schemeClr val="tx1"/>
                </a:solidFill>
              </a:rPr>
              <a:t>Khó kiểm soát trạng thái gói tập (Hết hạn/Còn hạn) khi số lượng hội viên lớn.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b="0" dirty="0">
                <a:solidFill>
                  <a:schemeClr val="tx1"/>
                </a:solidFill>
              </a:rPr>
              <a:t>Việc xếp lịch PT và Lớp học thủ công dẫn đến trùng giờ, sai sót sĩ số.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b="0" dirty="0">
                <a:solidFill>
                  <a:schemeClr val="tx1"/>
                </a:solidFill>
              </a:rPr>
              <a:t>Không quản lý được tồn kho sản phẩm (nước, phụ kiện) bán kèm tại quầy.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b="0" dirty="0">
                <a:solidFill>
                  <a:schemeClr val="tx1"/>
                </a:solidFill>
              </a:rPr>
              <a:t>Dữ liệu khách hàng phân tán, khó chăm sóc và hỗ trợ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BFE3B-0BF0-5C1C-A7AE-895A6F0CA2D4}"/>
              </a:ext>
            </a:extLst>
          </p:cNvPr>
          <p:cNvSpPr txBox="1"/>
          <p:nvPr/>
        </p:nvSpPr>
        <p:spPr>
          <a:xfrm>
            <a:off x="7782560" y="2404575"/>
            <a:ext cx="156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Giải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pháp</a:t>
            </a:r>
            <a:endParaRPr lang="vi-VN" sz="2400" b="1" dirty="0">
              <a:solidFill>
                <a:schemeClr val="bg1"/>
              </a:solidFill>
            </a:endParaRPr>
          </a:p>
        </p:txBody>
      </p:sp>
      <p:pic>
        <p:nvPicPr>
          <p:cNvPr id="15" name="Graphic 14" descr="Lightbulb with solid fill">
            <a:extLst>
              <a:ext uri="{FF2B5EF4-FFF2-40B4-BE49-F238E27FC236}">
                <a16:creationId xmlns:a16="http://schemas.microsoft.com/office/drawing/2014/main" id="{3ED55D4E-66C2-81C0-F427-542CD8832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1840" y="2252176"/>
            <a:ext cx="680720" cy="6807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5D11E59-FD86-12A2-6BF2-820A12FED483}"/>
              </a:ext>
            </a:extLst>
          </p:cNvPr>
          <p:cNvSpPr txBox="1"/>
          <p:nvPr/>
        </p:nvSpPr>
        <p:spPr>
          <a:xfrm>
            <a:off x="7353300" y="3018639"/>
            <a:ext cx="3566160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  <a:defRPr sz="20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marL="0" indent="0">
              <a:buNone/>
            </a:pPr>
            <a:r>
              <a:rPr lang="vi-VN" b="1" dirty="0">
                <a:solidFill>
                  <a:srgbClr val="FFFFFF"/>
                </a:solidFill>
              </a:rPr>
              <a:t>Cần một hệ thống CSDL tập trung để quản lý toàn diện từ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thương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mại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điện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tử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đăng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ký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gói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tập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và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theo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dõi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lịch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tập</a:t>
            </a:r>
            <a:r>
              <a:rPr lang="vi-VN" b="1" dirty="0">
                <a:solidFill>
                  <a:srgbClr val="FFFFFF"/>
                </a:solidFill>
              </a:rPr>
              <a:t>, đảm bảo dữ liệu chính xác và minh bạch.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E1F0E-F53C-2BB1-EA82-C7318021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0461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711200" y="492130"/>
            <a:ext cx="721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1. </a:t>
            </a:r>
            <a:r>
              <a:rPr lang="en-US" sz="4400" b="1" dirty="0" err="1"/>
              <a:t>Giới</a:t>
            </a:r>
            <a:r>
              <a:rPr lang="en-US" sz="4400" b="1" dirty="0"/>
              <a:t> </a:t>
            </a:r>
            <a:r>
              <a:rPr lang="en-US" sz="4400" b="1" dirty="0" err="1"/>
              <a:t>thiệu</a:t>
            </a:r>
            <a:r>
              <a:rPr lang="en-US" sz="4400" b="1" dirty="0"/>
              <a:t> </a:t>
            </a:r>
            <a:r>
              <a:rPr lang="en-US" sz="4400" b="1" dirty="0" err="1"/>
              <a:t>đề</a:t>
            </a:r>
            <a:r>
              <a:rPr lang="en-US" sz="4400" b="1" dirty="0"/>
              <a:t> </a:t>
            </a:r>
            <a:r>
              <a:rPr lang="en-US" sz="4400" b="1" dirty="0" err="1"/>
              <a:t>tài</a:t>
            </a:r>
            <a:endParaRPr lang="vi-VN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C4F2B-FA03-A8D0-AC4A-E49D472BDA14}"/>
              </a:ext>
            </a:extLst>
          </p:cNvPr>
          <p:cNvSpPr txBox="1"/>
          <p:nvPr/>
        </p:nvSpPr>
        <p:spPr>
          <a:xfrm>
            <a:off x="711200" y="1424354"/>
            <a:ext cx="447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1. 2. </a:t>
            </a:r>
            <a:r>
              <a:rPr lang="en-US" sz="2800" dirty="0" err="1"/>
              <a:t>Mục</a:t>
            </a:r>
            <a:r>
              <a:rPr lang="en-US" sz="2800" dirty="0"/>
              <a:t> </a:t>
            </a:r>
            <a:r>
              <a:rPr lang="en-US" sz="2800" dirty="0" err="1"/>
              <a:t>tiêu</a:t>
            </a:r>
            <a:r>
              <a:rPr lang="en-US" sz="2800" dirty="0"/>
              <a:t> </a:t>
            </a:r>
            <a:r>
              <a:rPr lang="en-US" sz="2800" dirty="0" err="1"/>
              <a:t>cụ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endParaRPr lang="vi-V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DA5D9-7F49-971A-7350-BE3639B049D0}"/>
              </a:ext>
            </a:extLst>
          </p:cNvPr>
          <p:cNvSpPr txBox="1"/>
          <p:nvPr/>
        </p:nvSpPr>
        <p:spPr>
          <a:xfrm>
            <a:off x="711200" y="2198858"/>
            <a:ext cx="10830560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indent="0">
              <a:lnSpc>
                <a:spcPct val="150000"/>
              </a:lnSpc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  <a:defRPr sz="20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 dirty="0">
                <a:solidFill>
                  <a:schemeClr val="tx1"/>
                </a:solidFill>
              </a:rPr>
              <a:t>Xây dựng hệ thống hỗ trợ phòng gym quản lý hội viên, gói tập, lịch tập, nhân viên</a:t>
            </a:r>
            <a:r>
              <a:rPr lang="en-US" sz="2400" b="0" dirty="0">
                <a:solidFill>
                  <a:schemeClr val="tx1"/>
                </a:solidFill>
              </a:rPr>
              <a:t> </a:t>
            </a:r>
            <a:r>
              <a:rPr lang="vi-VN" sz="2400" b="0" dirty="0">
                <a:solidFill>
                  <a:schemeClr val="tx1"/>
                </a:solidFill>
              </a:rPr>
              <a:t>và hoạt động bán hàng một cách hiệu quả.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 dirty="0">
                <a:solidFill>
                  <a:schemeClr val="tx1"/>
                </a:solidFill>
              </a:rPr>
              <a:t>Tự động hoá các quy trình thủ công: đăng ký gói tập, tạo hoá đơn, quản lý sản phẩm &amp; giỏ hàng. 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0" dirty="0">
                <a:solidFill>
                  <a:schemeClr val="tx1"/>
                </a:solidFill>
              </a:rPr>
              <a:t>Tăng khả năng kiểm soát kinh doanh thông qua báo cáo doanh thu</a:t>
            </a:r>
            <a:r>
              <a:rPr lang="en-US" sz="2400" b="0" dirty="0">
                <a:solidFill>
                  <a:schemeClr val="tx1"/>
                </a:solidFill>
              </a:rPr>
              <a:t> </a:t>
            </a:r>
            <a:r>
              <a:rPr lang="en-US" sz="2400" b="0" dirty="0" err="1">
                <a:solidFill>
                  <a:schemeClr val="tx1"/>
                </a:solidFill>
              </a:rPr>
              <a:t>và</a:t>
            </a:r>
            <a:r>
              <a:rPr lang="vi-VN" sz="2400" b="0" dirty="0">
                <a:solidFill>
                  <a:schemeClr val="tx1"/>
                </a:solidFill>
              </a:rPr>
              <a:t> thống kê hội viên.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08C77-CC0C-D222-DB20-3DA84330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58576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711200" y="492130"/>
            <a:ext cx="721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1. </a:t>
            </a:r>
            <a:r>
              <a:rPr lang="en-US" sz="4400" b="1" dirty="0" err="1"/>
              <a:t>Giới</a:t>
            </a:r>
            <a:r>
              <a:rPr lang="en-US" sz="4400" b="1" dirty="0"/>
              <a:t> </a:t>
            </a:r>
            <a:r>
              <a:rPr lang="en-US" sz="4400" b="1" dirty="0" err="1"/>
              <a:t>thiệu</a:t>
            </a:r>
            <a:r>
              <a:rPr lang="en-US" sz="4400" b="1" dirty="0"/>
              <a:t> </a:t>
            </a:r>
            <a:r>
              <a:rPr lang="en-US" sz="4400" b="1" dirty="0" err="1"/>
              <a:t>đề</a:t>
            </a:r>
            <a:r>
              <a:rPr lang="en-US" sz="4400" b="1" dirty="0"/>
              <a:t> </a:t>
            </a:r>
            <a:r>
              <a:rPr lang="en-US" sz="4400" b="1" dirty="0" err="1"/>
              <a:t>tài</a:t>
            </a:r>
            <a:endParaRPr lang="vi-VN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C4F2B-FA03-A8D0-AC4A-E49D472BDA14}"/>
              </a:ext>
            </a:extLst>
          </p:cNvPr>
          <p:cNvSpPr txBox="1"/>
          <p:nvPr/>
        </p:nvSpPr>
        <p:spPr>
          <a:xfrm>
            <a:off x="711200" y="1424354"/>
            <a:ext cx="721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1. 3. </a:t>
            </a:r>
            <a:r>
              <a:rPr lang="en-US" sz="2800" dirty="0" err="1"/>
              <a:t>Phạm</a:t>
            </a:r>
            <a:r>
              <a:rPr lang="en-US" sz="2800" dirty="0"/>
              <a:t> vi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tượng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endParaRPr lang="vi-V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2C1C1-A746-FA1E-FB5E-2389F6057BA6}"/>
              </a:ext>
            </a:extLst>
          </p:cNvPr>
          <p:cNvSpPr txBox="1"/>
          <p:nvPr/>
        </p:nvSpPr>
        <p:spPr>
          <a:xfrm>
            <a:off x="1154430" y="2486599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Quy </a:t>
            </a:r>
            <a:r>
              <a:rPr lang="en-US" sz="2400" b="1" dirty="0" err="1"/>
              <a:t>mô</a:t>
            </a:r>
            <a:r>
              <a:rPr lang="en-US" sz="2400" b="1" dirty="0"/>
              <a:t> </a:t>
            </a:r>
            <a:r>
              <a:rPr lang="en-US" sz="2400" b="1" dirty="0" err="1"/>
              <a:t>áp</a:t>
            </a:r>
            <a:r>
              <a:rPr lang="en-US" sz="2400" b="1" dirty="0"/>
              <a:t> </a:t>
            </a:r>
            <a:r>
              <a:rPr lang="en-US" sz="2400" b="1" dirty="0" err="1"/>
              <a:t>dụng</a:t>
            </a:r>
            <a:endParaRPr lang="vi-VN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41B3DC-8B8D-EF24-AA70-1BBC15C50ACC}"/>
              </a:ext>
            </a:extLst>
          </p:cNvPr>
          <p:cNvSpPr txBox="1"/>
          <p:nvPr/>
        </p:nvSpPr>
        <p:spPr>
          <a:xfrm>
            <a:off x="707390" y="3003241"/>
            <a:ext cx="6014720" cy="96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  <a:defRPr sz="20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r>
              <a:rPr lang="vi-VN" dirty="0"/>
              <a:t>Các hệ thống phòng Gym quy mô vừa và lớn.</a:t>
            </a:r>
          </a:p>
          <a:p>
            <a:r>
              <a:rPr lang="vi-VN" dirty="0"/>
              <a:t>Các trung tâm thể hình có kết hợp nhiều dịch vụ.</a:t>
            </a:r>
          </a:p>
        </p:txBody>
      </p:sp>
      <p:pic>
        <p:nvPicPr>
          <p:cNvPr id="10" name="Graphic 9" descr="Building with solid fill">
            <a:extLst>
              <a:ext uri="{FF2B5EF4-FFF2-40B4-BE49-F238E27FC236}">
                <a16:creationId xmlns:a16="http://schemas.microsoft.com/office/drawing/2014/main" id="{867D6782-2830-CF77-B62A-E806AE21E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490" y="2349133"/>
            <a:ext cx="662940" cy="6629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2E88D5-A20A-D064-B227-A77E9406DFF5}"/>
              </a:ext>
            </a:extLst>
          </p:cNvPr>
          <p:cNvSpPr txBox="1"/>
          <p:nvPr/>
        </p:nvSpPr>
        <p:spPr>
          <a:xfrm>
            <a:off x="7315200" y="2290931"/>
            <a:ext cx="271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Các</a:t>
            </a:r>
            <a:r>
              <a:rPr lang="en-US" sz="2400" b="1" dirty="0"/>
              <a:t> </a:t>
            </a:r>
            <a:r>
              <a:rPr lang="en-US" sz="2400" b="1" dirty="0" err="1"/>
              <a:t>phân</a:t>
            </a:r>
            <a:r>
              <a:rPr lang="en-US" sz="2400" b="1" dirty="0"/>
              <a:t> </a:t>
            </a:r>
            <a:r>
              <a:rPr lang="en-US" sz="2400" b="1" dirty="0" err="1"/>
              <a:t>hệ</a:t>
            </a:r>
            <a:r>
              <a:rPr lang="en-US" sz="2400" b="1" dirty="0"/>
              <a:t> </a:t>
            </a:r>
            <a:r>
              <a:rPr lang="en-US" sz="2400" b="1" dirty="0" err="1"/>
              <a:t>chính</a:t>
            </a:r>
            <a:endParaRPr lang="vi-VN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36A80-7FBF-568B-1E89-20C165F3522E}"/>
              </a:ext>
            </a:extLst>
          </p:cNvPr>
          <p:cNvSpPr txBox="1"/>
          <p:nvPr/>
        </p:nvSpPr>
        <p:spPr>
          <a:xfrm>
            <a:off x="6644640" y="2812150"/>
            <a:ext cx="5435600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0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  <a:defRPr sz="2000" b="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</a:lstStyle>
          <a:p>
            <a:r>
              <a:rPr lang="vi-VN" dirty="0"/>
              <a:t>Quản lý hội viên, gói tập, lịch tập</a:t>
            </a:r>
            <a:endParaRPr lang="en-US" dirty="0"/>
          </a:p>
          <a:p>
            <a:r>
              <a:rPr lang="vi-VN" dirty="0"/>
              <a:t>Quản lý nhân viên và phân quyền theo chức vụ.</a:t>
            </a:r>
          </a:p>
          <a:p>
            <a:r>
              <a:rPr lang="vi-VN" dirty="0"/>
              <a:t>Hỗ trợ mua hàng, giỏ hàng, hóa đơn, thống kê.</a:t>
            </a:r>
            <a:endParaRPr lang="en-US" dirty="0"/>
          </a:p>
          <a:p>
            <a:r>
              <a:rPr lang="vi-VN" dirty="0"/>
              <a:t>Hệ thống tài khoản đăng nhập cho nhân viên.</a:t>
            </a:r>
          </a:p>
          <a:p>
            <a:r>
              <a:rPr lang="vi-VN" dirty="0"/>
              <a:t>Quản lý Lớp học &amp; Huấn luyện viên cá nhân (PT).</a:t>
            </a:r>
          </a:p>
        </p:txBody>
      </p:sp>
      <p:pic>
        <p:nvPicPr>
          <p:cNvPr id="15" name="Graphic 14" descr="Gears with solid fill">
            <a:extLst>
              <a:ext uri="{FF2B5EF4-FFF2-40B4-BE49-F238E27FC236}">
                <a16:creationId xmlns:a16="http://schemas.microsoft.com/office/drawing/2014/main" id="{BD85EF49-CE6C-A6E2-2386-20DE31DDF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5420" y="2110357"/>
            <a:ext cx="779780" cy="77978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D5B6C-680B-AEDB-718C-4DD70C71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47918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711200" y="492130"/>
            <a:ext cx="721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1. </a:t>
            </a:r>
            <a:r>
              <a:rPr lang="en-US" sz="4400" b="1" dirty="0" err="1"/>
              <a:t>Giới</a:t>
            </a:r>
            <a:r>
              <a:rPr lang="en-US" sz="4400" b="1" dirty="0"/>
              <a:t> </a:t>
            </a:r>
            <a:r>
              <a:rPr lang="en-US" sz="4400" b="1" dirty="0" err="1"/>
              <a:t>thiệu</a:t>
            </a:r>
            <a:r>
              <a:rPr lang="en-US" sz="4400" b="1" dirty="0"/>
              <a:t> </a:t>
            </a:r>
            <a:r>
              <a:rPr lang="en-US" sz="4400" b="1" dirty="0" err="1"/>
              <a:t>đề</a:t>
            </a:r>
            <a:r>
              <a:rPr lang="en-US" sz="4400" b="1" dirty="0"/>
              <a:t> </a:t>
            </a:r>
            <a:r>
              <a:rPr lang="en-US" sz="4400" b="1" dirty="0" err="1"/>
              <a:t>tài</a:t>
            </a:r>
            <a:endParaRPr lang="vi-VN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C4F2B-FA03-A8D0-AC4A-E49D472BDA14}"/>
              </a:ext>
            </a:extLst>
          </p:cNvPr>
          <p:cNvSpPr txBox="1"/>
          <p:nvPr/>
        </p:nvSpPr>
        <p:spPr>
          <a:xfrm>
            <a:off x="711200" y="1424354"/>
            <a:ext cx="721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1. 3. </a:t>
            </a:r>
            <a:r>
              <a:rPr lang="en-US" sz="2800" dirty="0" err="1"/>
              <a:t>Phạm</a:t>
            </a:r>
            <a:r>
              <a:rPr lang="en-US" sz="2800" dirty="0"/>
              <a:t> vi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tượng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endParaRPr lang="vi-VN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B50408-3C41-B42F-FB1C-A095C1CC5E01}"/>
              </a:ext>
            </a:extLst>
          </p:cNvPr>
          <p:cNvSpPr/>
          <p:nvPr/>
        </p:nvSpPr>
        <p:spPr>
          <a:xfrm>
            <a:off x="3200400" y="2186983"/>
            <a:ext cx="5791200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HỆ THỐNG QUẢN LÝ PHÒNG GYM</a:t>
            </a:r>
            <a:endParaRPr lang="vi-VN" sz="20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22850D-6A70-A3BD-E601-D4B7A5030B90}"/>
              </a:ext>
            </a:extLst>
          </p:cNvPr>
          <p:cNvSpPr/>
          <p:nvPr/>
        </p:nvSpPr>
        <p:spPr>
          <a:xfrm>
            <a:off x="508000" y="3060520"/>
            <a:ext cx="2316480" cy="52322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Huấn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luyện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viên</a:t>
            </a:r>
            <a:endParaRPr lang="vi-VN" sz="2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1AD678-DB0C-BA03-60D4-EE5CE6FE5F43}"/>
              </a:ext>
            </a:extLst>
          </p:cNvPr>
          <p:cNvSpPr/>
          <p:nvPr/>
        </p:nvSpPr>
        <p:spPr>
          <a:xfrm>
            <a:off x="3434080" y="3060520"/>
            <a:ext cx="2316480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81B3A"/>
                </a:solidFill>
                <a:latin typeface="SegoeuiPc"/>
              </a:rPr>
              <a:t>Q</a:t>
            </a:r>
            <a:r>
              <a:rPr lang="vi-VN" sz="2000" b="0" i="0" dirty="0">
                <a:solidFill>
                  <a:srgbClr val="081B3A"/>
                </a:solidFill>
                <a:effectLst/>
                <a:latin typeface="SegoeuiPc"/>
              </a:rPr>
              <a:t>uản lý</a:t>
            </a:r>
            <a:endParaRPr lang="vi-VN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F3C33C-982B-84B5-37AA-57546F0B3729}"/>
              </a:ext>
            </a:extLst>
          </p:cNvPr>
          <p:cNvSpPr/>
          <p:nvPr/>
        </p:nvSpPr>
        <p:spPr>
          <a:xfrm>
            <a:off x="6438902" y="3060521"/>
            <a:ext cx="2316480" cy="5232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Khách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hàng</a:t>
            </a:r>
            <a:endParaRPr lang="vi-VN" sz="2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4D6C87-066C-2F19-3381-76AF28703E8E}"/>
              </a:ext>
            </a:extLst>
          </p:cNvPr>
          <p:cNvSpPr/>
          <p:nvPr/>
        </p:nvSpPr>
        <p:spPr>
          <a:xfrm>
            <a:off x="9347200" y="3060520"/>
            <a:ext cx="2316480" cy="52322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Nhân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viên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 err="1">
                <a:solidFill>
                  <a:schemeClr val="tx1"/>
                </a:solidFill>
              </a:rPr>
              <a:t>quản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lý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sản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phẩm</a:t>
            </a:r>
            <a:endParaRPr lang="vi-VN" sz="20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2734DE-403B-9D4F-1102-79D2B193E84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1666240" y="2710203"/>
            <a:ext cx="4429760" cy="3503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FD9163-0EC7-A75D-B78B-A6556DBD36DA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4592320" y="2710203"/>
            <a:ext cx="1503680" cy="3503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C7D534-C4D1-4B2D-CBAC-A7DD56882669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6096000" y="2710203"/>
            <a:ext cx="1501142" cy="350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A08B9AE-A943-2F9E-EA39-9D9BA30150F5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>
            <a:off x="6096000" y="2710203"/>
            <a:ext cx="4409440" cy="35031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96DAA80-1C18-27D8-EC71-349350728B66}"/>
              </a:ext>
            </a:extLst>
          </p:cNvPr>
          <p:cNvSpPr/>
          <p:nvPr/>
        </p:nvSpPr>
        <p:spPr>
          <a:xfrm>
            <a:off x="271780" y="4054313"/>
            <a:ext cx="2788920" cy="248384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b="0" i="0" dirty="0">
                <a:solidFill>
                  <a:srgbClr val="081B3A"/>
                </a:solidFill>
                <a:effectLst/>
                <a:latin typeface="SegoeuiPc"/>
              </a:rPr>
              <a:t>Xem lịch dạy, chỉnh sửa lịch dạy </a:t>
            </a:r>
            <a:endParaRPr lang="en-US" sz="1600" b="0" i="0" dirty="0">
              <a:solidFill>
                <a:srgbClr val="081B3A"/>
              </a:solidFill>
              <a:effectLst/>
              <a:latin typeface="SegoeuiPc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b="0" i="0" dirty="0">
                <a:solidFill>
                  <a:srgbClr val="081B3A"/>
                </a:solidFill>
                <a:effectLst/>
                <a:latin typeface="SegoeuiPc"/>
              </a:rPr>
              <a:t>Xem danh sách lớp, chỉnh sửa thông tin lớp </a:t>
            </a:r>
            <a:endParaRPr lang="en-US" sz="1600" b="0" i="0" dirty="0">
              <a:solidFill>
                <a:srgbClr val="081B3A"/>
              </a:solidFill>
              <a:effectLst/>
              <a:latin typeface="SegoeuiPc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b="0" i="0" dirty="0">
                <a:solidFill>
                  <a:srgbClr val="081B3A"/>
                </a:solidFill>
                <a:effectLst/>
                <a:latin typeface="SegoeuiPc"/>
              </a:rPr>
              <a:t>Xem danh sách khách cần PT, nhận khách PT</a:t>
            </a:r>
            <a:endParaRPr lang="vi-VN" sz="1600" dirty="0">
              <a:solidFill>
                <a:schemeClr val="tx1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D9CD4C1-FB85-7EF0-8F65-74FAA3094B56}"/>
              </a:ext>
            </a:extLst>
          </p:cNvPr>
          <p:cNvCxnSpPr>
            <a:cxnSpLocks/>
            <a:stCxn id="28" idx="0"/>
            <a:endCxn id="5" idx="2"/>
          </p:cNvCxnSpPr>
          <p:nvPr/>
        </p:nvCxnSpPr>
        <p:spPr>
          <a:xfrm flipV="1">
            <a:off x="1666240" y="3583741"/>
            <a:ext cx="0" cy="470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3847C78-5734-C07B-9253-209CAD7BD3BB}"/>
              </a:ext>
            </a:extLst>
          </p:cNvPr>
          <p:cNvSpPr/>
          <p:nvPr/>
        </p:nvSpPr>
        <p:spPr>
          <a:xfrm>
            <a:off x="3200400" y="4054785"/>
            <a:ext cx="2788920" cy="172625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81B3A"/>
                </a:solidFill>
                <a:latin typeface="SegoeuiPc"/>
              </a:rPr>
              <a:t>Quản</a:t>
            </a:r>
            <a:r>
              <a:rPr lang="vi-VN" sz="1600" dirty="0">
                <a:solidFill>
                  <a:srgbClr val="081B3A"/>
                </a:solidFill>
                <a:latin typeface="SegoeuiPc"/>
              </a:rPr>
              <a:t> nhân viên</a:t>
            </a:r>
            <a:r>
              <a:rPr lang="en-US" sz="1600" dirty="0">
                <a:solidFill>
                  <a:srgbClr val="081B3A"/>
                </a:solidFill>
                <a:latin typeface="SegoeuiPc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81B3A"/>
                </a:solidFill>
                <a:latin typeface="SegoeuiPc"/>
              </a:rPr>
              <a:t>Quản</a:t>
            </a:r>
            <a:r>
              <a:rPr lang="en-US" sz="1600" dirty="0">
                <a:solidFill>
                  <a:srgbClr val="081B3A"/>
                </a:solidFill>
                <a:latin typeface="SegoeuiPc"/>
              </a:rPr>
              <a:t> </a:t>
            </a:r>
            <a:r>
              <a:rPr lang="en-US" sz="1600" dirty="0" err="1">
                <a:solidFill>
                  <a:srgbClr val="081B3A"/>
                </a:solidFill>
                <a:latin typeface="SegoeuiPc"/>
              </a:rPr>
              <a:t>lý</a:t>
            </a:r>
            <a:r>
              <a:rPr lang="vi-VN" sz="1600" dirty="0">
                <a:solidFill>
                  <a:srgbClr val="081B3A"/>
                </a:solidFill>
                <a:latin typeface="SegoeuiPc"/>
              </a:rPr>
              <a:t> doanh thu</a:t>
            </a:r>
            <a:endParaRPr lang="en-US" sz="1600" dirty="0">
              <a:solidFill>
                <a:srgbClr val="081B3A"/>
              </a:solidFill>
              <a:latin typeface="SegoeuiPc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 err="1">
                <a:solidFill>
                  <a:srgbClr val="081B3A"/>
                </a:solidFill>
                <a:effectLst/>
                <a:latin typeface="SegoeuiPc"/>
              </a:rPr>
              <a:t>Quản</a:t>
            </a:r>
            <a:r>
              <a:rPr lang="en-US" sz="1600" b="0" i="0" dirty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600" b="0" i="0" dirty="0" err="1">
                <a:solidFill>
                  <a:srgbClr val="081B3A"/>
                </a:solidFill>
                <a:effectLst/>
                <a:latin typeface="SegoeuiPc"/>
              </a:rPr>
              <a:t>lý</a:t>
            </a:r>
            <a:r>
              <a:rPr lang="en-US" sz="1600" b="0" i="0" dirty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600" b="0" i="0" dirty="0" err="1">
                <a:solidFill>
                  <a:srgbClr val="081B3A"/>
                </a:solidFill>
                <a:effectLst/>
                <a:latin typeface="SegoeuiPc"/>
              </a:rPr>
              <a:t>lịch</a:t>
            </a:r>
            <a:r>
              <a:rPr lang="en-US" sz="1600" b="0" i="0" dirty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600" b="0" i="0" dirty="0" err="1">
                <a:solidFill>
                  <a:srgbClr val="081B3A"/>
                </a:solidFill>
                <a:effectLst/>
                <a:latin typeface="SegoeuiPc"/>
              </a:rPr>
              <a:t>trình</a:t>
            </a:r>
            <a:endParaRPr lang="en-US" sz="1600" b="0" i="0" dirty="0">
              <a:solidFill>
                <a:srgbClr val="081B3A"/>
              </a:solidFill>
              <a:effectLst/>
              <a:latin typeface="SegoeuiPc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81B3A"/>
                </a:solidFill>
                <a:latin typeface="SegoeuiPc"/>
              </a:rPr>
              <a:t>Quản</a:t>
            </a:r>
            <a:r>
              <a:rPr lang="en-US" sz="1600" dirty="0">
                <a:solidFill>
                  <a:srgbClr val="081B3A"/>
                </a:solidFill>
                <a:latin typeface="SegoeuiPc"/>
              </a:rPr>
              <a:t> </a:t>
            </a:r>
            <a:r>
              <a:rPr lang="en-US" sz="1600" dirty="0" err="1">
                <a:solidFill>
                  <a:srgbClr val="081B3A"/>
                </a:solidFill>
                <a:latin typeface="SegoeuiPc"/>
              </a:rPr>
              <a:t>lý</a:t>
            </a:r>
            <a:r>
              <a:rPr lang="en-US" sz="1600" dirty="0">
                <a:solidFill>
                  <a:srgbClr val="081B3A"/>
                </a:solidFill>
                <a:latin typeface="SegoeuiPc"/>
              </a:rPr>
              <a:t> </a:t>
            </a:r>
            <a:r>
              <a:rPr lang="en-US" sz="1600" dirty="0" err="1">
                <a:solidFill>
                  <a:srgbClr val="081B3A"/>
                </a:solidFill>
                <a:latin typeface="SegoeuiPc"/>
              </a:rPr>
              <a:t>lớp</a:t>
            </a:r>
            <a:r>
              <a:rPr lang="en-US" sz="1600" dirty="0">
                <a:solidFill>
                  <a:srgbClr val="081B3A"/>
                </a:solidFill>
                <a:latin typeface="SegoeuiPc"/>
              </a:rPr>
              <a:t> </a:t>
            </a:r>
            <a:r>
              <a:rPr lang="en-US" sz="1600" dirty="0" err="1">
                <a:solidFill>
                  <a:srgbClr val="081B3A"/>
                </a:solidFill>
                <a:latin typeface="SegoeuiPc"/>
              </a:rPr>
              <a:t>học</a:t>
            </a:r>
            <a:r>
              <a:rPr lang="en-US" sz="1600" dirty="0">
                <a:solidFill>
                  <a:srgbClr val="081B3A"/>
                </a:solidFill>
                <a:latin typeface="SegoeuiPc"/>
              </a:rPr>
              <a:t>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5FE62F9-2BD6-733E-28AD-B63BE730839D}"/>
              </a:ext>
            </a:extLst>
          </p:cNvPr>
          <p:cNvSpPr/>
          <p:nvPr/>
        </p:nvSpPr>
        <p:spPr>
          <a:xfrm>
            <a:off x="6202682" y="4054313"/>
            <a:ext cx="2788920" cy="248384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Đặt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hàng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đăng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ký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gói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tập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lớp</a:t>
            </a:r>
            <a:r>
              <a:rPr lang="en-US" sz="1600" dirty="0">
                <a:solidFill>
                  <a:schemeClr val="tx1"/>
                </a:solidFill>
              </a:rPr>
              <a:t>, PT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Xem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lịch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tập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thông</a:t>
            </a:r>
            <a:r>
              <a:rPr lang="en-US" sz="1600" dirty="0">
                <a:solidFill>
                  <a:schemeClr val="tx1"/>
                </a:solidFill>
              </a:rPr>
              <a:t> tin </a:t>
            </a:r>
            <a:r>
              <a:rPr lang="en-US" sz="1600" dirty="0" err="1">
                <a:solidFill>
                  <a:schemeClr val="tx1"/>
                </a:solidFill>
              </a:rPr>
              <a:t>cá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nhân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Gia </a:t>
            </a:r>
            <a:r>
              <a:rPr lang="en-US" sz="1600" dirty="0" err="1">
                <a:solidFill>
                  <a:schemeClr val="tx1"/>
                </a:solidFill>
              </a:rPr>
              <a:t>hạn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gói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tập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Check-in </a:t>
            </a:r>
            <a:r>
              <a:rPr lang="en-US" sz="1600" dirty="0" err="1">
                <a:solidFill>
                  <a:schemeClr val="tx1"/>
                </a:solidFill>
              </a:rPr>
              <a:t>lớp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học</a:t>
            </a:r>
            <a:endParaRPr lang="vi-VN" sz="1600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C21A614-74EA-7A9E-FE6B-27CF69B1A9BD}"/>
              </a:ext>
            </a:extLst>
          </p:cNvPr>
          <p:cNvSpPr/>
          <p:nvPr/>
        </p:nvSpPr>
        <p:spPr>
          <a:xfrm>
            <a:off x="9131302" y="4054313"/>
            <a:ext cx="2788920" cy="248384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Thêm</a:t>
            </a:r>
            <a:r>
              <a:rPr lang="en-US" sz="1600" dirty="0">
                <a:solidFill>
                  <a:schemeClr val="tx1"/>
                </a:solidFill>
              </a:rPr>
              <a:t>/</a:t>
            </a:r>
            <a:r>
              <a:rPr lang="en-US" sz="1600" dirty="0" err="1">
                <a:solidFill>
                  <a:schemeClr val="tx1"/>
                </a:solidFill>
              </a:rPr>
              <a:t>Xóa</a:t>
            </a:r>
            <a:r>
              <a:rPr lang="en-US" sz="1600" dirty="0">
                <a:solidFill>
                  <a:schemeClr val="tx1"/>
                </a:solidFill>
              </a:rPr>
              <a:t>/</a:t>
            </a:r>
            <a:r>
              <a:rPr lang="en-US" sz="1600" dirty="0" err="1">
                <a:solidFill>
                  <a:schemeClr val="tx1"/>
                </a:solidFill>
              </a:rPr>
              <a:t>Sửa</a:t>
            </a:r>
            <a:r>
              <a:rPr lang="en-US" sz="1600" dirty="0">
                <a:solidFill>
                  <a:schemeClr val="tx1"/>
                </a:solidFill>
              </a:rPr>
              <a:t>/Select </a:t>
            </a:r>
            <a:r>
              <a:rPr lang="en-US" sz="1600" dirty="0" err="1">
                <a:solidFill>
                  <a:schemeClr val="tx1"/>
                </a:solidFill>
              </a:rPr>
              <a:t>Sản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phẩm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Quản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lý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hình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ảnh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loại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sản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phẩm</a:t>
            </a:r>
            <a:endParaRPr lang="vi-VN" sz="1600" dirty="0">
              <a:solidFill>
                <a:schemeClr val="tx1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1315976-43D0-5408-8AC5-5CD5DB9EE1B9}"/>
              </a:ext>
            </a:extLst>
          </p:cNvPr>
          <p:cNvCxnSpPr>
            <a:cxnSpLocks/>
            <a:stCxn id="42" idx="0"/>
            <a:endCxn id="7" idx="2"/>
          </p:cNvCxnSpPr>
          <p:nvPr/>
        </p:nvCxnSpPr>
        <p:spPr>
          <a:xfrm flipH="1" flipV="1">
            <a:off x="4592320" y="3583740"/>
            <a:ext cx="2540" cy="4710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54142E7-F30A-E60C-7CF5-886D7392AB33}"/>
              </a:ext>
            </a:extLst>
          </p:cNvPr>
          <p:cNvCxnSpPr>
            <a:cxnSpLocks/>
            <a:stCxn id="47" idx="0"/>
            <a:endCxn id="9" idx="2"/>
          </p:cNvCxnSpPr>
          <p:nvPr/>
        </p:nvCxnSpPr>
        <p:spPr>
          <a:xfrm flipV="1">
            <a:off x="7597142" y="3583741"/>
            <a:ext cx="0" cy="470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14C9FCF-69EE-51AE-4F5B-AC6D0CD0B59D}"/>
              </a:ext>
            </a:extLst>
          </p:cNvPr>
          <p:cNvCxnSpPr>
            <a:cxnSpLocks/>
            <a:stCxn id="52" idx="0"/>
            <a:endCxn id="13" idx="2"/>
          </p:cNvCxnSpPr>
          <p:nvPr/>
        </p:nvCxnSpPr>
        <p:spPr>
          <a:xfrm flipH="1" flipV="1">
            <a:off x="10505440" y="3583741"/>
            <a:ext cx="20322" cy="4705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608BF1C-7ACF-027B-D3CB-1AC62E92D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368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hình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cấu</a:t>
            </a:r>
            <a:r>
              <a:rPr lang="en-US" sz="3600" b="1" dirty="0"/>
              <a:t> </a:t>
            </a:r>
            <a:r>
              <a:rPr lang="en-US" sz="3600" b="1" dirty="0" err="1"/>
              <a:t>trúc</a:t>
            </a:r>
            <a:r>
              <a:rPr lang="en-US" sz="3600" b="1" dirty="0"/>
              <a:t> CSDL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2. 1. </a:t>
            </a:r>
            <a:r>
              <a:rPr lang="en-US" sz="2400" dirty="0" err="1"/>
              <a:t>Sơ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cơ</a:t>
            </a:r>
            <a:r>
              <a:rPr lang="en-US" sz="2400" dirty="0"/>
              <a:t> </a:t>
            </a:r>
            <a:r>
              <a:rPr lang="en-US" sz="2400" dirty="0" err="1"/>
              <a:t>sở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vi-V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5BB5D7-CC93-E3F7-B81C-5EBED87BC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311" y="1268697"/>
            <a:ext cx="8686678" cy="54878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00361-AD51-A66C-6020-3EAF5B877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6</a:t>
            </a:fld>
            <a:endParaRPr lang="vi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DB9A0-BE20-7B0A-4C2A-55024913E919}"/>
              </a:ext>
            </a:extLst>
          </p:cNvPr>
          <p:cNvSpPr/>
          <p:nvPr/>
        </p:nvSpPr>
        <p:spPr>
          <a:xfrm>
            <a:off x="8473440" y="5631180"/>
            <a:ext cx="1150620" cy="12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2544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hình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cấu</a:t>
            </a:r>
            <a:r>
              <a:rPr lang="en-US" sz="3600" b="1" dirty="0"/>
              <a:t> </a:t>
            </a:r>
            <a:r>
              <a:rPr lang="en-US" sz="3600" b="1" dirty="0" err="1"/>
              <a:t>trúc</a:t>
            </a:r>
            <a:r>
              <a:rPr lang="en-US" sz="3600" b="1" dirty="0"/>
              <a:t> CSDL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2. R</a:t>
            </a:r>
            <a:r>
              <a:rPr lang="vi-VN" sz="2800" dirty="0"/>
              <a:t>àng buộc dữ liệu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E8025-3847-CA1C-9FFC-025685B19D89}"/>
              </a:ext>
            </a:extLst>
          </p:cNvPr>
          <p:cNvSpPr txBox="1"/>
          <p:nvPr/>
        </p:nvSpPr>
        <p:spPr>
          <a:xfrm>
            <a:off x="2042160" y="2396936"/>
            <a:ext cx="8534400" cy="411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Bảng DangKyGoiTap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[dbo].[DangKyGoiTap]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[CK_DKGT_Ngay]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(([NgayKetThuc] &gt;= [NgayBatDau]));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Bảng LichTapPT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[dbo].[LichTapPT]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[CK_LichPT_Gio]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(([GioKetThuc] &gt; [GioBatDau]));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Bảng LichLop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[dbo].[LichLop]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[CK_LichLop_Gio]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(([GioKetThuc] &gt; [GioBatDau]));</a:t>
            </a:r>
            <a:endParaRPr lang="vi-V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370AA-5675-5DF0-A2DB-D5C3236C1D74}"/>
              </a:ext>
            </a:extLst>
          </p:cNvPr>
          <p:cNvSpPr txBox="1"/>
          <p:nvPr/>
        </p:nvSpPr>
        <p:spPr>
          <a:xfrm>
            <a:off x="4008596" y="1394031"/>
            <a:ext cx="4174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Check: Logic </a:t>
            </a:r>
            <a:r>
              <a:rPr lang="en-US" sz="3200" b="1" dirty="0" err="1"/>
              <a:t>Thời</a:t>
            </a:r>
            <a:r>
              <a:rPr lang="en-US" sz="3200" b="1" dirty="0"/>
              <a:t> Gian</a:t>
            </a:r>
            <a:endParaRPr lang="vi-VN" sz="32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F2A26-6E03-A3F1-9D48-57E5D3CF3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31207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hình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cấu</a:t>
            </a:r>
            <a:r>
              <a:rPr lang="en-US" sz="3600" b="1" dirty="0"/>
              <a:t> </a:t>
            </a:r>
            <a:r>
              <a:rPr lang="en-US" sz="3600" b="1" dirty="0" err="1"/>
              <a:t>trúc</a:t>
            </a:r>
            <a:r>
              <a:rPr lang="en-US" sz="3600" b="1" dirty="0"/>
              <a:t> CSDL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2. R</a:t>
            </a:r>
            <a:r>
              <a:rPr lang="vi-VN" sz="2800" dirty="0"/>
              <a:t>àng buộc dữ liệu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E8025-3847-CA1C-9FFC-025685B19D89}"/>
              </a:ext>
            </a:extLst>
          </p:cNvPr>
          <p:cNvSpPr txBox="1"/>
          <p:nvPr/>
        </p:nvSpPr>
        <p:spPr>
          <a:xfrm>
            <a:off x="2438400" y="2508696"/>
            <a:ext cx="7975600" cy="374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Hóa đơn: Chỉ 3 trạng thái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[dbo].[HoaDon]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[CK_TRANGTHAIHD]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(([TrangThai]=N</a:t>
            </a:r>
            <a:r>
              <a:rPr lang="vi-VN" sz="16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'Hủy'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[TrangThai]=N</a:t>
            </a:r>
            <a:r>
              <a:rPr lang="vi-VN" sz="16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'Đã thanh toán'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[TrangThai]=N</a:t>
            </a:r>
            <a:r>
              <a:rPr lang="vi-VN" sz="16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'Chưa thanh toán'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Đăng ký gói tập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[dbo].[DangKyGoiTap]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[CK_TRANGTHAIGT]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(([TrangThai]=N</a:t>
            </a:r>
            <a:r>
              <a:rPr lang="vi-VN" sz="16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'Còn hiệu lực'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[TrangThai]=N</a:t>
            </a:r>
            <a:r>
              <a:rPr lang="vi-VN" sz="16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'Hết hạn'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[TrangThai]=N</a:t>
            </a:r>
            <a:r>
              <a:rPr lang="vi-VN" sz="16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'Đã hủy'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endParaRPr lang="vi-V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477FCF-5551-A67C-C4E5-7905C13E3D19}"/>
              </a:ext>
            </a:extLst>
          </p:cNvPr>
          <p:cNvSpPr txBox="1"/>
          <p:nvPr/>
        </p:nvSpPr>
        <p:spPr>
          <a:xfrm>
            <a:off x="4008596" y="1394031"/>
            <a:ext cx="4174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Check: Logic </a:t>
            </a:r>
            <a:r>
              <a:rPr lang="en-US" sz="3200" b="1" dirty="0" err="1"/>
              <a:t>Trạng</a:t>
            </a:r>
            <a:r>
              <a:rPr lang="en-US" sz="3200" b="1" dirty="0"/>
              <a:t> Thái</a:t>
            </a:r>
            <a:endParaRPr lang="vi-VN" sz="32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6A692-F48D-85C2-630D-EB43825B2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39857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hình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cấu</a:t>
            </a:r>
            <a:r>
              <a:rPr lang="en-US" sz="3600" b="1" dirty="0"/>
              <a:t> </a:t>
            </a:r>
            <a:r>
              <a:rPr lang="en-US" sz="3600" b="1" dirty="0" err="1"/>
              <a:t>trúc</a:t>
            </a:r>
            <a:r>
              <a:rPr lang="en-US" sz="3600" b="1" dirty="0"/>
              <a:t> CSDL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2. R</a:t>
            </a:r>
            <a:r>
              <a:rPr lang="vi-VN" sz="2800" dirty="0"/>
              <a:t>àng buộc dữ liệu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3528A-A0B6-7B2D-851F-400D76B00354}"/>
              </a:ext>
            </a:extLst>
          </p:cNvPr>
          <p:cNvSpPr txBox="1"/>
          <p:nvPr/>
        </p:nvSpPr>
        <p:spPr>
          <a:xfrm>
            <a:off x="3689032" y="1399683"/>
            <a:ext cx="4813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Check: </a:t>
            </a:r>
            <a:r>
              <a:rPr lang="en-US" sz="3200" b="1" dirty="0" err="1"/>
              <a:t>Giá</a:t>
            </a:r>
            <a:r>
              <a:rPr lang="en-US" sz="3200" b="1" dirty="0"/>
              <a:t> </a:t>
            </a:r>
            <a:r>
              <a:rPr lang="en-US" sz="3200" b="1" dirty="0" err="1"/>
              <a:t>Trị</a:t>
            </a:r>
            <a:r>
              <a:rPr lang="en-US" sz="3200" b="1" dirty="0"/>
              <a:t> </a:t>
            </a:r>
            <a:r>
              <a:rPr lang="en-US" sz="3200" b="1" dirty="0" err="1"/>
              <a:t>và</a:t>
            </a:r>
            <a:r>
              <a:rPr lang="en-US" sz="3200" b="1" dirty="0"/>
              <a:t> </a:t>
            </a:r>
            <a:r>
              <a:rPr lang="en-US" sz="3200" b="1" dirty="0" err="1"/>
              <a:t>Định</a:t>
            </a:r>
            <a:r>
              <a:rPr lang="en-US" sz="3200" b="1" dirty="0"/>
              <a:t> </a:t>
            </a:r>
            <a:r>
              <a:rPr lang="en-US" sz="3200" b="1" dirty="0" err="1"/>
              <a:t>Dạng</a:t>
            </a:r>
            <a:endParaRPr lang="vi-V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E8025-3847-CA1C-9FFC-025685B19D89}"/>
              </a:ext>
            </a:extLst>
          </p:cNvPr>
          <p:cNvSpPr txBox="1"/>
          <p:nvPr/>
        </p:nvSpPr>
        <p:spPr>
          <a:xfrm>
            <a:off x="1879600" y="1919474"/>
            <a:ext cx="9154160" cy="4852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Tiền không được âm (Áp dụng cho SP, Gói Tập, Lớp Học)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[dbo].[SanPham]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(([DonGia]&gt;=(0)));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[dbo].[GoiTap]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(([Gia]&gt;(0)));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[dbo].[LopHoc]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(([HocPhi]&gt;(0)));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SĐT: Bắt đầu bằng 0, dài 10 ký tự, chỉ chứa số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[dbo].[NhanVien]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[CK_NhanVien_SDT]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(([SDT]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like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'0%'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len([SDT])=(10)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[SDT]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like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'%[^0-9]%'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Giới tính &amp; Mức giảm giá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[dbo].[KhachHang]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(([GIOITINH]=N</a:t>
            </a:r>
            <a:r>
              <a:rPr lang="vi-VN" sz="16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'Nữ'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[GIOITINH]=N</a:t>
            </a:r>
            <a:r>
              <a:rPr lang="vi-VN" sz="16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'Nam'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[dbo].[LoaiKhachHang]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(([MucGiam]&gt;=(0)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[MucGiam]&lt;=(100)));</a:t>
            </a:r>
            <a:endParaRPr lang="vi-VN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8B861-27FA-BF10-F5B5-AB2F01EC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4188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hình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cấu</a:t>
            </a:r>
            <a:r>
              <a:rPr lang="en-US" sz="3600" b="1" dirty="0"/>
              <a:t> </a:t>
            </a:r>
            <a:r>
              <a:rPr lang="en-US" sz="3600" b="1" dirty="0" err="1"/>
              <a:t>trúc</a:t>
            </a:r>
            <a:r>
              <a:rPr lang="en-US" sz="3600" b="1" dirty="0"/>
              <a:t> CSDL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2. R</a:t>
            </a:r>
            <a:r>
              <a:rPr lang="vi-VN" sz="2800" dirty="0"/>
              <a:t>àng buộc dữ liệu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3528A-A0B6-7B2D-851F-400D76B00354}"/>
              </a:ext>
            </a:extLst>
          </p:cNvPr>
          <p:cNvSpPr txBox="1"/>
          <p:nvPr/>
        </p:nvSpPr>
        <p:spPr>
          <a:xfrm>
            <a:off x="3266916" y="1449315"/>
            <a:ext cx="5658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Check: Logic </a:t>
            </a:r>
            <a:r>
              <a:rPr lang="en-US" sz="3200" b="1" dirty="0" err="1"/>
              <a:t>Nghiệp</a:t>
            </a:r>
            <a:r>
              <a:rPr lang="en-US" sz="3200" b="1" dirty="0"/>
              <a:t> </a:t>
            </a:r>
            <a:r>
              <a:rPr lang="en-US" sz="3200" b="1" dirty="0" err="1"/>
              <a:t>vụ</a:t>
            </a:r>
            <a:r>
              <a:rPr lang="en-US" sz="3200" b="1" dirty="0"/>
              <a:t> </a:t>
            </a:r>
            <a:r>
              <a:rPr lang="en-US" sz="3200" b="1" dirty="0" err="1"/>
              <a:t>Phức</a:t>
            </a:r>
            <a:r>
              <a:rPr lang="en-US" sz="3200" b="1" dirty="0"/>
              <a:t> </a:t>
            </a:r>
            <a:r>
              <a:rPr lang="en-US" sz="3200" b="1" dirty="0" err="1"/>
              <a:t>tạp</a:t>
            </a:r>
            <a:endParaRPr lang="vi-V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E8025-3847-CA1C-9FFC-025685B19D89}"/>
              </a:ext>
            </a:extLst>
          </p:cNvPr>
          <p:cNvSpPr txBox="1"/>
          <p:nvPr/>
        </p:nvSpPr>
        <p:spPr>
          <a:xfrm>
            <a:off x="1889760" y="2153154"/>
            <a:ext cx="9154160" cy="374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--</a:t>
            </a:r>
            <a:r>
              <a:rPr lang="vi-VN" sz="1600" dirty="0">
                <a:solidFill>
                  <a:srgbClr val="008000"/>
                </a:solidFill>
                <a:latin typeface="Consolas" panose="020B0609020204030204" pitchFamily="49" charset="0"/>
              </a:rPr>
              <a:t>Chi tiết hóa đơn chỉ được tham chiếu DUY NHẤT 1 loại dịch vụ</a:t>
            </a:r>
            <a:r>
              <a:rPr lang="vi-VN" sz="1600" b="0" i="1" dirty="0">
                <a:solidFill>
                  <a:srgbClr val="555555"/>
                </a:solidFill>
                <a:effectLst/>
                <a:latin typeface="Source Sans Pro" panose="020B0503030403020204" pitchFamily="34" charset="0"/>
              </a:rPr>
              <a:t>.</a:t>
            </a:r>
            <a:endParaRPr lang="en-US" sz="1600" b="0" i="1" dirty="0">
              <a:solidFill>
                <a:srgbClr val="555555"/>
              </a:solidFill>
              <a:effectLst/>
              <a:latin typeface="Source Sans Pro" panose="020B05030304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dbo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].[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ChiTietHoaDon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CONSTRAINT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CK_CTHD_LoaiDichVu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	 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MaDKGT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MaDKPT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MaDKLop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+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MaSP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1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0 </a:t>
            </a:r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) = 1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vi-VN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1B31D-E11D-73EA-38F8-9D668843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5532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hình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cấu</a:t>
            </a:r>
            <a:r>
              <a:rPr lang="en-US" sz="3600" b="1" dirty="0"/>
              <a:t> </a:t>
            </a:r>
            <a:r>
              <a:rPr lang="en-US" sz="3600" b="1" dirty="0" err="1"/>
              <a:t>trúc</a:t>
            </a:r>
            <a:r>
              <a:rPr lang="en-US" sz="3600" b="1" dirty="0"/>
              <a:t> CSDL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2. R</a:t>
            </a:r>
            <a:r>
              <a:rPr lang="vi-VN" sz="2800" dirty="0"/>
              <a:t>àng buộc dữ liệu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3528A-A0B6-7B2D-851F-400D76B00354}"/>
              </a:ext>
            </a:extLst>
          </p:cNvPr>
          <p:cNvSpPr txBox="1"/>
          <p:nvPr/>
        </p:nvSpPr>
        <p:spPr>
          <a:xfrm>
            <a:off x="5199618" y="1449315"/>
            <a:ext cx="1792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3200" b="1"/>
            </a:lvl1pPr>
          </a:lstStyle>
          <a:p>
            <a:r>
              <a:rPr lang="vi-VN" dirty="0"/>
              <a:t>UNIQUE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E8025-3847-CA1C-9FFC-025685B19D89}"/>
              </a:ext>
            </a:extLst>
          </p:cNvPr>
          <p:cNvSpPr txBox="1"/>
          <p:nvPr/>
        </p:nvSpPr>
        <p:spPr>
          <a:xfrm>
            <a:off x="3149600" y="2153153"/>
            <a:ext cx="5892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Email &amp; SĐT khách hàng là duy nhất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[dbo].[KhachHang]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NONCLUSTERED ([Email]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ASC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NONCLUSTERED ([SDT]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ASC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Tên chức vụ (VD: chỉ có 1 chức vụ 'Quản lý')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[dbo].[ChucVu]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NONCLUSTERED ([TenChucVu]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ASC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Tên đăng nhập nhân viên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[dbo].[NhanVien]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NONCLUSTERED ([TenDangNhap]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ASC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vi-VN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AC012-959E-9736-517A-203CB324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87228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hình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cấu</a:t>
            </a:r>
            <a:r>
              <a:rPr lang="en-US" sz="3600" b="1" dirty="0"/>
              <a:t> </a:t>
            </a:r>
            <a:r>
              <a:rPr lang="en-US" sz="3600" b="1" dirty="0" err="1"/>
              <a:t>trúc</a:t>
            </a:r>
            <a:r>
              <a:rPr lang="en-US" sz="3600" b="1" dirty="0"/>
              <a:t> CSDL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2. 2. R</a:t>
            </a:r>
            <a:r>
              <a:rPr lang="vi-VN" sz="2800" dirty="0"/>
              <a:t>àng buộc dữ liệu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3528A-A0B6-7B2D-851F-400D76B00354}"/>
              </a:ext>
            </a:extLst>
          </p:cNvPr>
          <p:cNvSpPr txBox="1"/>
          <p:nvPr/>
        </p:nvSpPr>
        <p:spPr>
          <a:xfrm>
            <a:off x="5057378" y="1449315"/>
            <a:ext cx="20772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3200" b="1"/>
            </a:lvl1pPr>
          </a:lstStyle>
          <a:p>
            <a:r>
              <a:rPr lang="vi-VN" dirty="0"/>
              <a:t>DEFAULT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E8025-3847-CA1C-9FFC-025685B19D89}"/>
              </a:ext>
            </a:extLst>
          </p:cNvPr>
          <p:cNvSpPr txBox="1"/>
          <p:nvPr/>
        </p:nvSpPr>
        <p:spPr>
          <a:xfrm>
            <a:off x="1686560" y="2437500"/>
            <a:ext cx="9733280" cy="2636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Trạng thái mặc định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[dbo].[HoaDon]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</a:t>
            </a:r>
            <a:r>
              <a:rPr lang="vi-VN" sz="16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'Chưa thanh toán’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[TrangThai];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[dbo].[LichLop]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</a:t>
            </a:r>
            <a:r>
              <a:rPr lang="vi-VN" sz="16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'Chưa diễn ra’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[TrangThai];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-- Số liệu mặc định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[dbo].[LopHoc]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((30))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[SiSoToiDa]; </a:t>
            </a:r>
            <a:endParaRPr lang="en-US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[dbo].[ChiTietGioHang]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((1)) </a:t>
            </a:r>
            <a:r>
              <a:rPr lang="vi-VN" sz="16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vi-V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[SoLuong]</a:t>
            </a:r>
            <a:endParaRPr lang="vi-VN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2E407-942B-7B2F-B3E7-57E4D6E7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74237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hình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cấu</a:t>
            </a:r>
            <a:r>
              <a:rPr lang="en-US" sz="3600" b="1" dirty="0"/>
              <a:t> </a:t>
            </a:r>
            <a:r>
              <a:rPr lang="en-US" sz="3600" b="1" dirty="0" err="1"/>
              <a:t>trúc</a:t>
            </a:r>
            <a:r>
              <a:rPr lang="en-US" sz="3600" b="1" dirty="0"/>
              <a:t> CSDL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2. 2. </a:t>
            </a:r>
            <a:r>
              <a:rPr lang="en-US" sz="2400" dirty="0" err="1"/>
              <a:t>Áp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dirty="0" err="1"/>
              <a:t>chuẩn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vi-V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C7878-93AB-0B52-8104-E2A914B59F0C}"/>
              </a:ext>
            </a:extLst>
          </p:cNvPr>
          <p:cNvSpPr txBox="1"/>
          <p:nvPr/>
        </p:nvSpPr>
        <p:spPr>
          <a:xfrm>
            <a:off x="975360" y="2282372"/>
            <a:ext cx="7213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2400"/>
            </a:lvl1pPr>
          </a:lstStyle>
          <a:p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Nguyên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tắc</a:t>
            </a:r>
            <a:r>
              <a:rPr lang="en-US" sz="2000" dirty="0"/>
              <a:t>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Mỗi cột chỉ chứa giá trị nguyên tử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vi-V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 chứa danh sách hoặc mảng giá trị trong cùng một cột</a:t>
            </a:r>
          </a:p>
          <a:p>
            <a:endParaRPr lang="vi-VN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B5F2A3-3971-80EE-CD7B-97791E2DA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078901"/>
              </p:ext>
            </p:extLst>
          </p:nvPr>
        </p:nvGraphicFramePr>
        <p:xfrm>
          <a:off x="1324761" y="3835546"/>
          <a:ext cx="9794986" cy="1554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3321">
                  <a:extLst>
                    <a:ext uri="{9D8B030D-6E8A-4147-A177-3AD203B41FA5}">
                      <a16:colId xmlns:a16="http://schemas.microsoft.com/office/drawing/2014/main" val="282964808"/>
                    </a:ext>
                  </a:extLst>
                </a:gridCol>
                <a:gridCol w="4165245">
                  <a:extLst>
                    <a:ext uri="{9D8B030D-6E8A-4147-A177-3AD203B41FA5}">
                      <a16:colId xmlns:a16="http://schemas.microsoft.com/office/drawing/2014/main" val="3052080737"/>
                    </a:ext>
                  </a:extLst>
                </a:gridCol>
                <a:gridCol w="4336420">
                  <a:extLst>
                    <a:ext uri="{9D8B030D-6E8A-4147-A177-3AD203B41FA5}">
                      <a16:colId xmlns:a16="http://schemas.microsoft.com/office/drawing/2014/main" val="2858607000"/>
                    </a:ext>
                  </a:extLst>
                </a:gridCol>
              </a:tblGrid>
              <a:tr h="228805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MaSP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TenSP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HinhAnh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89545"/>
                  </a:ext>
                </a:extLst>
              </a:tr>
              <a:tr h="658207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 1 Protein 5Lbs 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Hương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Chocolate)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rule1-whey-choco-1.jpg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rule1-whey-choco-2.jpg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rule1-whey-choco-3.jpg</a:t>
                      </a:r>
                      <a:b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rule1-whey-facts-4.jpg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66714"/>
                  </a:ext>
                </a:extLst>
              </a:tr>
            </a:tbl>
          </a:graphicData>
        </a:graphic>
      </p:graphicFrame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FDE7EA8D-F674-3888-4D6D-A6CB51BE8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3934" y="5466762"/>
            <a:ext cx="1056640" cy="1056640"/>
          </a:xfrm>
          <a:prstGeom prst="rect">
            <a:avLst/>
          </a:prstGeom>
        </p:spPr>
      </p:pic>
      <p:pic>
        <p:nvPicPr>
          <p:cNvPr id="16" name="Graphic 15" descr="Checkmark with solid fill">
            <a:extLst>
              <a:ext uri="{FF2B5EF4-FFF2-40B4-BE49-F238E27FC236}">
                <a16:creationId xmlns:a16="http://schemas.microsoft.com/office/drawing/2014/main" id="{244D0094-3943-207F-86D3-CCEF85D25F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2195" y="5625978"/>
            <a:ext cx="1133376" cy="1133376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6701717-49F2-F833-D15D-FFC708275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402251"/>
              </p:ext>
            </p:extLst>
          </p:nvPr>
        </p:nvGraphicFramePr>
        <p:xfrm>
          <a:off x="166317" y="3910927"/>
          <a:ext cx="5458566" cy="93942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93321">
                  <a:extLst>
                    <a:ext uri="{9D8B030D-6E8A-4147-A177-3AD203B41FA5}">
                      <a16:colId xmlns:a16="http://schemas.microsoft.com/office/drawing/2014/main" val="282964808"/>
                    </a:ext>
                  </a:extLst>
                </a:gridCol>
                <a:gridCol w="4165245">
                  <a:extLst>
                    <a:ext uri="{9D8B030D-6E8A-4147-A177-3AD203B41FA5}">
                      <a16:colId xmlns:a16="http://schemas.microsoft.com/office/drawing/2014/main" val="3052080737"/>
                    </a:ext>
                  </a:extLst>
                </a:gridCol>
              </a:tblGrid>
              <a:tr h="257146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MaSP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TenSP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89545"/>
                  </a:ext>
                </a:extLst>
              </a:tr>
              <a:tr h="57366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 1 Protein 5Lbs 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Hương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Chocolate)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6671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1C928E3-3873-A5D0-AF11-FD0F40FE8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149824"/>
              </p:ext>
            </p:extLst>
          </p:nvPr>
        </p:nvGraphicFramePr>
        <p:xfrm>
          <a:off x="6567117" y="3910927"/>
          <a:ext cx="5458566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35654">
                  <a:extLst>
                    <a:ext uri="{9D8B030D-6E8A-4147-A177-3AD203B41FA5}">
                      <a16:colId xmlns:a16="http://schemas.microsoft.com/office/drawing/2014/main" val="28296480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3309135755"/>
                    </a:ext>
                  </a:extLst>
                </a:gridCol>
                <a:gridCol w="3276432">
                  <a:extLst>
                    <a:ext uri="{9D8B030D-6E8A-4147-A177-3AD203B41FA5}">
                      <a16:colId xmlns:a16="http://schemas.microsoft.com/office/drawing/2014/main" val="3052080737"/>
                    </a:ext>
                  </a:extLst>
                </a:gridCol>
              </a:tblGrid>
              <a:tr h="318779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MaHinh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MaSP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Url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89545"/>
                  </a:ext>
                </a:extLst>
              </a:tr>
              <a:tr h="31762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rule1-whey-choco-1.jpg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66714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rule1-whey-choco-2.jpg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213714"/>
                  </a:ext>
                </a:extLst>
              </a:tr>
              <a:tr h="26682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rule1-whey-choco-3.jpg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792853"/>
                  </a:ext>
                </a:extLst>
              </a:tr>
              <a:tr h="26682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rule1-whey-facts-4.jpg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789557"/>
                  </a:ext>
                </a:extLst>
              </a:tr>
            </a:tbl>
          </a:graphicData>
        </a:graphic>
      </p:graphicFrame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B75754F-8BEE-C795-C9D9-F91B58543CDE}"/>
              </a:ext>
            </a:extLst>
          </p:cNvPr>
          <p:cNvCxnSpPr>
            <a:endCxn id="17" idx="3"/>
          </p:cNvCxnSpPr>
          <p:nvPr/>
        </p:nvCxnSpPr>
        <p:spPr>
          <a:xfrm rot="10800000">
            <a:off x="5624883" y="4380638"/>
            <a:ext cx="942234" cy="587603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210452C-DE12-C09A-5339-4D14C1D1FA9C}"/>
              </a:ext>
            </a:extLst>
          </p:cNvPr>
          <p:cNvSpPr txBox="1"/>
          <p:nvPr/>
        </p:nvSpPr>
        <p:spPr>
          <a:xfrm>
            <a:off x="3672095" y="1583174"/>
            <a:ext cx="48478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2400"/>
            </a:lvl1pPr>
          </a:lstStyle>
          <a:p>
            <a:r>
              <a:rPr lang="vi-V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Normal Form (1NF)</a:t>
            </a:r>
          </a:p>
          <a:p>
            <a:endParaRPr lang="vi-VN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64738-FA5D-7672-7468-4CFD74B1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3886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hình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cấu</a:t>
            </a:r>
            <a:r>
              <a:rPr lang="en-US" sz="3600" b="1" dirty="0"/>
              <a:t> </a:t>
            </a:r>
            <a:r>
              <a:rPr lang="en-US" sz="3600" b="1" dirty="0" err="1"/>
              <a:t>trúc</a:t>
            </a:r>
            <a:r>
              <a:rPr lang="en-US" sz="3600" b="1" dirty="0"/>
              <a:t> CSDL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2. 2. </a:t>
            </a:r>
            <a:r>
              <a:rPr lang="en-US" sz="2400" dirty="0" err="1"/>
              <a:t>Áp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dirty="0" err="1"/>
              <a:t>chuẩn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vi-V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C32B6-B7DE-FA56-7987-CF3F4588D650}"/>
              </a:ext>
            </a:extLst>
          </p:cNvPr>
          <p:cNvSpPr txBox="1"/>
          <p:nvPr/>
        </p:nvSpPr>
        <p:spPr>
          <a:xfrm>
            <a:off x="3672095" y="1583174"/>
            <a:ext cx="48478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2400"/>
            </a:lvl1pPr>
          </a:lstStyle>
          <a:p>
            <a:r>
              <a:rPr lang="vi-V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Normal Form (1NF)</a:t>
            </a:r>
          </a:p>
          <a:p>
            <a:endParaRPr lang="vi-V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C7878-93AB-0B52-8104-E2A914B59F0C}"/>
              </a:ext>
            </a:extLst>
          </p:cNvPr>
          <p:cNvSpPr txBox="1"/>
          <p:nvPr/>
        </p:nvSpPr>
        <p:spPr>
          <a:xfrm>
            <a:off x="975360" y="2282372"/>
            <a:ext cx="7213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2400"/>
            </a:lvl1pPr>
          </a:lstStyle>
          <a:p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Nguyên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tắc</a:t>
            </a:r>
            <a:r>
              <a:rPr lang="en-US" sz="2000" dirty="0"/>
              <a:t>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Mỗi cột chỉ chứa giá trị nguyên tử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vi-V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 chứa danh sách hoặc mảng giá trị trong cùng một cột</a:t>
            </a:r>
          </a:p>
          <a:p>
            <a:endParaRPr lang="vi-V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CFE6F5-C3C6-FCFF-53A4-A860D1A81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88" y="4074498"/>
            <a:ext cx="9801424" cy="6620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0B93EE-D583-E666-EECE-EAB1A3C7E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" y="5204583"/>
            <a:ext cx="10693999" cy="84638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6A115-B7F0-98F8-B855-CF1B3EAC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29449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hình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cấu</a:t>
            </a:r>
            <a:r>
              <a:rPr lang="en-US" sz="3600" b="1" dirty="0"/>
              <a:t> </a:t>
            </a:r>
            <a:r>
              <a:rPr lang="en-US" sz="3600" b="1" dirty="0" err="1"/>
              <a:t>trúc</a:t>
            </a:r>
            <a:r>
              <a:rPr lang="en-US" sz="3600" b="1" dirty="0"/>
              <a:t> CSDL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2. 2. </a:t>
            </a:r>
            <a:r>
              <a:rPr lang="en-US" sz="2400" dirty="0" err="1"/>
              <a:t>Áp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dirty="0" err="1"/>
              <a:t>chuẩn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vi-V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C7878-93AB-0B52-8104-E2A914B59F0C}"/>
              </a:ext>
            </a:extLst>
          </p:cNvPr>
          <p:cNvSpPr txBox="1"/>
          <p:nvPr/>
        </p:nvSpPr>
        <p:spPr>
          <a:xfrm>
            <a:off x="975360" y="2282372"/>
            <a:ext cx="103022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2400"/>
            </a:lvl1pPr>
          </a:lstStyle>
          <a:p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Nguyên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tắc</a:t>
            </a:r>
            <a:r>
              <a:rPr lang="en-US" sz="2000" dirty="0"/>
              <a:t>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Đã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đạt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chuẩn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1NF.</a:t>
            </a:r>
            <a:endParaRPr lang="vi-V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Mỗi cột không khóa phải phụ thuộc toàn bộ vào khóa chính (không phụ thuộc một phần)</a:t>
            </a:r>
          </a:p>
          <a:p>
            <a:endParaRPr lang="vi-V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1E4542-4626-037A-76EE-57A58CEF0B6B}"/>
              </a:ext>
            </a:extLst>
          </p:cNvPr>
          <p:cNvSpPr txBox="1"/>
          <p:nvPr/>
        </p:nvSpPr>
        <p:spPr>
          <a:xfrm>
            <a:off x="3435867" y="1636041"/>
            <a:ext cx="5320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Second Normal Form</a:t>
            </a:r>
            <a:r>
              <a:rPr lang="en-US" dirty="0"/>
              <a:t> (2NF)</a:t>
            </a:r>
            <a:endParaRPr lang="vi-V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94B793-C53F-92A6-686B-663DC24FA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082039"/>
              </p:ext>
            </p:extLst>
          </p:nvPr>
        </p:nvGraphicFramePr>
        <p:xfrm>
          <a:off x="3821666" y="3984427"/>
          <a:ext cx="5495054" cy="1097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58655">
                  <a:extLst>
                    <a:ext uri="{9D8B030D-6E8A-4147-A177-3AD203B41FA5}">
                      <a16:colId xmlns:a16="http://schemas.microsoft.com/office/drawing/2014/main" val="282964808"/>
                    </a:ext>
                  </a:extLst>
                </a:gridCol>
                <a:gridCol w="1576760">
                  <a:extLst>
                    <a:ext uri="{9D8B030D-6E8A-4147-A177-3AD203B41FA5}">
                      <a16:colId xmlns:a16="http://schemas.microsoft.com/office/drawing/2014/main" val="3052080737"/>
                    </a:ext>
                  </a:extLst>
                </a:gridCol>
                <a:gridCol w="2359639">
                  <a:extLst>
                    <a:ext uri="{9D8B030D-6E8A-4147-A177-3AD203B41FA5}">
                      <a16:colId xmlns:a16="http://schemas.microsoft.com/office/drawing/2014/main" val="2858607000"/>
                    </a:ext>
                  </a:extLst>
                </a:gridCol>
              </a:tblGrid>
              <a:tr h="323726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MaCM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MaNV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TenNV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89545"/>
                  </a:ext>
                </a:extLst>
              </a:tr>
              <a:tr h="32372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Nguyễn Hoàng Thành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66714"/>
                  </a:ext>
                </a:extLst>
              </a:tr>
              <a:tr h="30729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Nguyễn Hoàng Thành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356136"/>
                  </a:ext>
                </a:extLst>
              </a:tr>
            </a:tbl>
          </a:graphicData>
        </a:graphic>
      </p:graphicFrame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8AC54E68-3D3E-8C3F-CF37-77C55349B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3934" y="5466762"/>
            <a:ext cx="1056640" cy="105664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C2233D6B-56E8-D0C3-F790-9691479E46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9875" y="5428394"/>
            <a:ext cx="1133376" cy="1133376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DE273D4-37E2-9263-7F56-07102CE26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972393"/>
              </p:ext>
            </p:extLst>
          </p:nvPr>
        </p:nvGraphicFramePr>
        <p:xfrm>
          <a:off x="1971041" y="3910927"/>
          <a:ext cx="2001520" cy="12848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5520">
                  <a:extLst>
                    <a:ext uri="{9D8B030D-6E8A-4147-A177-3AD203B41FA5}">
                      <a16:colId xmlns:a16="http://schemas.microsoft.com/office/drawing/2014/main" val="2829648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52080737"/>
                    </a:ext>
                  </a:extLst>
                </a:gridCol>
              </a:tblGrid>
              <a:tr h="292988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MaCM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MaNV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89545"/>
                  </a:ext>
                </a:extLst>
              </a:tr>
              <a:tr h="45952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66714"/>
                  </a:ext>
                </a:extLst>
              </a:tr>
              <a:tr h="45952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46725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48D8FCC-CC8F-5097-E868-AD3E50B3F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10316"/>
              </p:ext>
            </p:extLst>
          </p:nvPr>
        </p:nvGraphicFramePr>
        <p:xfrm>
          <a:off x="6550091" y="3910927"/>
          <a:ext cx="4412086" cy="731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35654">
                  <a:extLst>
                    <a:ext uri="{9D8B030D-6E8A-4147-A177-3AD203B41FA5}">
                      <a16:colId xmlns:a16="http://schemas.microsoft.com/office/drawing/2014/main" val="282964808"/>
                    </a:ext>
                  </a:extLst>
                </a:gridCol>
                <a:gridCol w="3276432">
                  <a:extLst>
                    <a:ext uri="{9D8B030D-6E8A-4147-A177-3AD203B41FA5}">
                      <a16:colId xmlns:a16="http://schemas.microsoft.com/office/drawing/2014/main" val="3052080737"/>
                    </a:ext>
                  </a:extLst>
                </a:gridCol>
              </a:tblGrid>
              <a:tr h="318779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MaNV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TenNV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89545"/>
                  </a:ext>
                </a:extLst>
              </a:tr>
              <a:tr h="31762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Nguyễn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Hoàng Thành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66714"/>
                  </a:ext>
                </a:extLst>
              </a:tr>
            </a:tbl>
          </a:graphicData>
        </a:graphic>
      </p:graphicFrame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31CC151-D751-2D49-EBB5-0CC3D8EED2BB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rot="10800000" flipV="1">
            <a:off x="3972561" y="4276686"/>
            <a:ext cx="2577530" cy="276645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210C3-EF3E-122F-E457-932CCA5F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15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098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hình</a:t>
            </a:r>
            <a:r>
              <a:rPr lang="en-US" sz="3600" b="1" dirty="0"/>
              <a:t> </a:t>
            </a:r>
            <a:r>
              <a:rPr lang="en-US" sz="3600" b="1" dirty="0" err="1"/>
              <a:t>và</a:t>
            </a:r>
            <a:r>
              <a:rPr lang="en-US" sz="3600" b="1" dirty="0"/>
              <a:t> </a:t>
            </a:r>
            <a:r>
              <a:rPr lang="en-US" sz="3600" b="1" dirty="0" err="1"/>
              <a:t>cấu</a:t>
            </a:r>
            <a:r>
              <a:rPr lang="en-US" sz="3600" b="1" dirty="0"/>
              <a:t> </a:t>
            </a:r>
            <a:r>
              <a:rPr lang="en-US" sz="3600" b="1" dirty="0" err="1"/>
              <a:t>trúc</a:t>
            </a:r>
            <a:r>
              <a:rPr lang="en-US" sz="3600" b="1" dirty="0"/>
              <a:t> CSDL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2. 2. </a:t>
            </a:r>
            <a:r>
              <a:rPr lang="en-US" sz="2400" dirty="0" err="1"/>
              <a:t>Áp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dirty="0" err="1"/>
              <a:t>chuẩn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vi-V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C7878-93AB-0B52-8104-E2A914B59F0C}"/>
              </a:ext>
            </a:extLst>
          </p:cNvPr>
          <p:cNvSpPr txBox="1"/>
          <p:nvPr/>
        </p:nvSpPr>
        <p:spPr>
          <a:xfrm>
            <a:off x="975360" y="2282372"/>
            <a:ext cx="9469120" cy="1735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2400"/>
            </a:lvl1pPr>
          </a:lstStyle>
          <a:p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Nguyên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tắc</a:t>
            </a:r>
            <a:r>
              <a:rPr lang="en-US" sz="2000" dirty="0"/>
              <a:t>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Đã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đạt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chuẩn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2NF.</a:t>
            </a:r>
            <a:endParaRPr lang="vi-V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 có thuộc tính không khóa nào phụ thuộc vào thuộc tính không khóa khác (Không phụ thuộc bắc cầu)</a:t>
            </a:r>
            <a:endParaRPr lang="vi-V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1E4542-4626-037A-76EE-57A58CEF0B6B}"/>
              </a:ext>
            </a:extLst>
          </p:cNvPr>
          <p:cNvSpPr txBox="1"/>
          <p:nvPr/>
        </p:nvSpPr>
        <p:spPr>
          <a:xfrm>
            <a:off x="3435867" y="1636041"/>
            <a:ext cx="5320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Third</a:t>
            </a:r>
            <a:r>
              <a:rPr lang="vi-VN" dirty="0"/>
              <a:t> Normal Form</a:t>
            </a:r>
            <a:r>
              <a:rPr lang="en-US" dirty="0"/>
              <a:t> (3NF)</a:t>
            </a:r>
            <a:endParaRPr lang="vi-V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94B793-C53F-92A6-686B-663DC24FA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069794"/>
              </p:ext>
            </p:extLst>
          </p:nvPr>
        </p:nvGraphicFramePr>
        <p:xfrm>
          <a:off x="3580211" y="4488272"/>
          <a:ext cx="5284086" cy="731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13264">
                  <a:extLst>
                    <a:ext uri="{9D8B030D-6E8A-4147-A177-3AD203B41FA5}">
                      <a16:colId xmlns:a16="http://schemas.microsoft.com/office/drawing/2014/main" val="282964808"/>
                    </a:ext>
                  </a:extLst>
                </a:gridCol>
                <a:gridCol w="2070608">
                  <a:extLst>
                    <a:ext uri="{9D8B030D-6E8A-4147-A177-3AD203B41FA5}">
                      <a16:colId xmlns:a16="http://schemas.microsoft.com/office/drawing/2014/main" val="3052080737"/>
                    </a:ext>
                  </a:extLst>
                </a:gridCol>
                <a:gridCol w="1200107">
                  <a:extLst>
                    <a:ext uri="{9D8B030D-6E8A-4147-A177-3AD203B41FA5}">
                      <a16:colId xmlns:a16="http://schemas.microsoft.com/office/drawing/2014/main" val="2858607000"/>
                    </a:ext>
                  </a:extLst>
                </a:gridCol>
                <a:gridCol w="1200107">
                  <a:extLst>
                    <a:ext uri="{9D8B030D-6E8A-4147-A177-3AD203B41FA5}">
                      <a16:colId xmlns:a16="http://schemas.microsoft.com/office/drawing/2014/main" val="1861910775"/>
                    </a:ext>
                  </a:extLst>
                </a:gridCol>
              </a:tblGrid>
              <a:tr h="323726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MaKH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TenKH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MaLoaiKH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MucGiam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89545"/>
                  </a:ext>
                </a:extLst>
              </a:tr>
              <a:tr h="32372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Nguyễn Ngà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10.00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66714"/>
                  </a:ext>
                </a:extLst>
              </a:tr>
            </a:tbl>
          </a:graphicData>
        </a:graphic>
      </p:graphicFrame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8AC54E68-3D3E-8C3F-CF37-77C55349B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3934" y="5690282"/>
            <a:ext cx="1056640" cy="1056640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C2233D6B-56E8-D0C3-F790-9691479E46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9875" y="5651914"/>
            <a:ext cx="1133376" cy="1133376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DE273D4-37E2-9263-7F56-07102CE26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47405"/>
              </p:ext>
            </p:extLst>
          </p:nvPr>
        </p:nvGraphicFramePr>
        <p:xfrm>
          <a:off x="1414027" y="4134446"/>
          <a:ext cx="4043680" cy="8252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79180">
                  <a:extLst>
                    <a:ext uri="{9D8B030D-6E8A-4147-A177-3AD203B41FA5}">
                      <a16:colId xmlns:a16="http://schemas.microsoft.com/office/drawing/2014/main" val="282964808"/>
                    </a:ext>
                  </a:extLst>
                </a:gridCol>
                <a:gridCol w="1482250">
                  <a:extLst>
                    <a:ext uri="{9D8B030D-6E8A-4147-A177-3AD203B41FA5}">
                      <a16:colId xmlns:a16="http://schemas.microsoft.com/office/drawing/2014/main" val="3052080737"/>
                    </a:ext>
                  </a:extLst>
                </a:gridCol>
                <a:gridCol w="1482250">
                  <a:extLst>
                    <a:ext uri="{9D8B030D-6E8A-4147-A177-3AD203B41FA5}">
                      <a16:colId xmlns:a16="http://schemas.microsoft.com/office/drawing/2014/main" val="2000167311"/>
                    </a:ext>
                  </a:extLst>
                </a:gridCol>
              </a:tblGrid>
              <a:tr h="292988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MaKH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TenKH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MaLoaiKH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89545"/>
                  </a:ext>
                </a:extLst>
              </a:tr>
              <a:tr h="45952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Nguyễn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Ngà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6671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48D8FCC-CC8F-5097-E868-AD3E50B3F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385648"/>
              </p:ext>
            </p:extLst>
          </p:nvPr>
        </p:nvGraphicFramePr>
        <p:xfrm>
          <a:off x="7474651" y="4117058"/>
          <a:ext cx="2766629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6789">
                  <a:extLst>
                    <a:ext uri="{9D8B030D-6E8A-4147-A177-3AD203B41FA5}">
                      <a16:colId xmlns:a16="http://schemas.microsoft.com/office/drawing/2014/main" val="282964808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052080737"/>
                    </a:ext>
                  </a:extLst>
                </a:gridCol>
              </a:tblGrid>
              <a:tr h="318779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MaLoaiKH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MucGiam</a:t>
                      </a:r>
                      <a:endParaRPr lang="vi-VN" sz="1800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289545"/>
                  </a:ext>
                </a:extLst>
              </a:tr>
              <a:tr h="31762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66714"/>
                  </a:ext>
                </a:extLst>
              </a:tr>
              <a:tr h="317622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vi-VN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147902"/>
                  </a:ext>
                </a:extLst>
              </a:tr>
              <a:tr h="317622"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896531"/>
                  </a:ext>
                </a:extLst>
              </a:tr>
              <a:tr h="317622"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91388"/>
                  </a:ext>
                </a:extLst>
              </a:tr>
            </a:tbl>
          </a:graphicData>
        </a:graphic>
      </p:graphicFrame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31CC151-D751-2D49-EBB5-0CC3D8EED2BB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rot="10800000">
            <a:off x="5457707" y="4547088"/>
            <a:ext cx="2016944" cy="484370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2035B-0231-7BC0-5E23-05B22D3A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412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vi-VN" sz="2400" dirty="0"/>
          </a:p>
        </p:txBody>
      </p:sp>
      <p:pic>
        <p:nvPicPr>
          <p:cNvPr id="4" name="Graphic 3" descr="User with solid fill">
            <a:extLst>
              <a:ext uri="{FF2B5EF4-FFF2-40B4-BE49-F238E27FC236}">
                <a16:creationId xmlns:a16="http://schemas.microsoft.com/office/drawing/2014/main" id="{6CEB3658-4746-BA08-BFF9-42ECCC98F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5530" y="1640185"/>
            <a:ext cx="1972310" cy="19723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A4F7DF-5705-2A01-EE41-7DCF399A9B5E}"/>
              </a:ext>
            </a:extLst>
          </p:cNvPr>
          <p:cNvSpPr txBox="1"/>
          <p:nvPr/>
        </p:nvSpPr>
        <p:spPr>
          <a:xfrm>
            <a:off x="1805940" y="3713780"/>
            <a:ext cx="30810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/>
              <a:t>Nguyễn</a:t>
            </a:r>
            <a:r>
              <a:rPr lang="en-US" sz="4400" b="1" dirty="0"/>
              <a:t> </a:t>
            </a:r>
            <a:r>
              <a:rPr lang="en-US" sz="4400" b="1" dirty="0" err="1"/>
              <a:t>Ngà</a:t>
            </a:r>
            <a:endParaRPr lang="vi-VN" sz="4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C6A5A-7608-97B2-7445-84BA80951C73}"/>
              </a:ext>
            </a:extLst>
          </p:cNvPr>
          <p:cNvSpPr txBox="1"/>
          <p:nvPr/>
        </p:nvSpPr>
        <p:spPr>
          <a:xfrm>
            <a:off x="2138045" y="4679206"/>
            <a:ext cx="2367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i="0" dirty="0">
                <a:solidFill>
                  <a:srgbClr val="E74C3C"/>
                </a:solidFill>
                <a:effectLst/>
                <a:latin typeface="Ubuntu" panose="020B0504030602030204" pitchFamily="34" charset="0"/>
              </a:rPr>
              <a:t>Web Client Developer</a:t>
            </a:r>
            <a:endParaRPr lang="vi-VN" sz="32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2EAA7D-0385-B73B-82E0-A01E83B74FC1}"/>
              </a:ext>
            </a:extLst>
          </p:cNvPr>
          <p:cNvGrpSpPr/>
          <p:nvPr/>
        </p:nvGrpSpPr>
        <p:grpSpPr>
          <a:xfrm>
            <a:off x="5317490" y="1640185"/>
            <a:ext cx="6132830" cy="4496455"/>
            <a:chOff x="7015480" y="2043802"/>
            <a:chExt cx="4185920" cy="400139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E855757-224F-4967-7801-A8F8104918B9}"/>
                </a:ext>
              </a:extLst>
            </p:cNvPr>
            <p:cNvSpPr/>
            <p:nvPr/>
          </p:nvSpPr>
          <p:spPr>
            <a:xfrm>
              <a:off x="7015480" y="2043802"/>
              <a:ext cx="4104640" cy="4001398"/>
            </a:xfrm>
            <a:prstGeom prst="roundRect">
              <a:avLst>
                <a:gd name="adj" fmla="val 558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dirty="0">
                <a:solidFill>
                  <a:schemeClr val="tx1"/>
                </a:solidFill>
                <a:highlight>
                  <a:srgbClr val="808080"/>
                </a:highlight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52A84FC-BBE0-C2E5-DDD5-18F1C6BBCAC1}"/>
                </a:ext>
              </a:extLst>
            </p:cNvPr>
            <p:cNvSpPr/>
            <p:nvPr/>
          </p:nvSpPr>
          <p:spPr>
            <a:xfrm>
              <a:off x="7096760" y="2043802"/>
              <a:ext cx="4104640" cy="4001398"/>
            </a:xfrm>
            <a:prstGeom prst="roundRect">
              <a:avLst>
                <a:gd name="adj" fmla="val 558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dirty="0">
                <a:solidFill>
                  <a:schemeClr val="tx1"/>
                </a:solidFill>
                <a:highlight>
                  <a:srgbClr val="808080"/>
                </a:highlight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6EDEF9A-383C-5AC2-EE9A-364B662172AF}"/>
              </a:ext>
            </a:extLst>
          </p:cNvPr>
          <p:cNvSpPr txBox="1"/>
          <p:nvPr/>
        </p:nvSpPr>
        <p:spPr>
          <a:xfrm>
            <a:off x="6458585" y="1872231"/>
            <a:ext cx="3791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MODULE PHỤ TRÁCH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663FF7EA-0742-ED30-BA0E-8889F54A21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5945" y="1810676"/>
            <a:ext cx="802640" cy="8026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80AA78-4A1F-709A-1104-9F5CFF929191}"/>
              </a:ext>
            </a:extLst>
          </p:cNvPr>
          <p:cNvSpPr txBox="1"/>
          <p:nvPr/>
        </p:nvSpPr>
        <p:spPr>
          <a:xfrm>
            <a:off x="5514975" y="2457006"/>
            <a:ext cx="5935345" cy="3483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Cổng thông tin Hội viên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 thống Đặt hàng &amp; Thanh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toán.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Quản lý Lịch tập cá nhân &amp;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Check-in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1C25BD-11CA-171C-9CC7-C6B8DB90F4C8}"/>
              </a:ext>
            </a:extLst>
          </p:cNvPr>
          <p:cNvSpPr/>
          <p:nvPr/>
        </p:nvSpPr>
        <p:spPr>
          <a:xfrm>
            <a:off x="4677515" y="6311636"/>
            <a:ext cx="1814016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i="0" dirty="0">
                <a:solidFill>
                  <a:srgbClr val="0070C0"/>
                </a:solidFill>
                <a:effectLst/>
                <a:latin typeface="Ubuntu" panose="020B0504030602030204" pitchFamily="34" charset="0"/>
              </a:rPr>
              <a:t>ASP.NET MVC 5</a:t>
            </a:r>
            <a:endParaRPr lang="vi-VN" sz="1600" dirty="0">
              <a:solidFill>
                <a:srgbClr val="0070C0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E03491-3977-8765-EECA-AD761D529149}"/>
              </a:ext>
            </a:extLst>
          </p:cNvPr>
          <p:cNvSpPr/>
          <p:nvPr/>
        </p:nvSpPr>
        <p:spPr>
          <a:xfrm>
            <a:off x="6714079" y="6307131"/>
            <a:ext cx="2032037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rgbClr val="0070C0"/>
                </a:solidFill>
              </a:rPr>
              <a:t>Entity Framework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5439C20-AE5B-06F8-D975-E6D1BE32A339}"/>
              </a:ext>
            </a:extLst>
          </p:cNvPr>
          <p:cNvSpPr/>
          <p:nvPr/>
        </p:nvSpPr>
        <p:spPr>
          <a:xfrm>
            <a:off x="8968664" y="6307131"/>
            <a:ext cx="1281253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rgbClr val="0070C0"/>
                </a:solidFill>
              </a:rPr>
              <a:t>SQL Server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BC9DAD4-C4E8-F084-B2CA-C750AD9B9E3B}"/>
              </a:ext>
            </a:extLst>
          </p:cNvPr>
          <p:cNvSpPr/>
          <p:nvPr/>
        </p:nvSpPr>
        <p:spPr>
          <a:xfrm>
            <a:off x="10472465" y="6323001"/>
            <a:ext cx="1567135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rgbClr val="0070C0"/>
                </a:solidFill>
              </a:rPr>
              <a:t>AJAX/jQuery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DB48F9E-9612-77BE-59C6-C9315F09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1624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vi-V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6250B4-EBCF-B127-7AAA-5942A28B6395}"/>
              </a:ext>
            </a:extLst>
          </p:cNvPr>
          <p:cNvSpPr txBox="1"/>
          <p:nvPr/>
        </p:nvSpPr>
        <p:spPr>
          <a:xfrm>
            <a:off x="4075054" y="1453363"/>
            <a:ext cx="4041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dirty="0"/>
              <a:t>User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endParaRPr lang="vi-V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FF0B7C-38E9-86BC-12F5-58EC5CD07178}"/>
              </a:ext>
            </a:extLst>
          </p:cNvPr>
          <p:cNvSpPr txBox="1"/>
          <p:nvPr/>
        </p:nvSpPr>
        <p:spPr>
          <a:xfrm>
            <a:off x="3063239" y="2284360"/>
            <a:ext cx="7366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rgbClr val="008000"/>
                </a:solidFill>
                <a:latin typeface="Consolas" panose="020B0609020204030204" pitchFamily="49" charset="0"/>
              </a:rPr>
              <a:t>-- Login cho ứng dụng web (đại diện quyền khách hàng)</a:t>
            </a:r>
            <a:endParaRPr lang="vi-V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 sz="1600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vi-V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1600" dirty="0">
                <a:solidFill>
                  <a:srgbClr val="800000"/>
                </a:solidFill>
                <a:latin typeface="Consolas" panose="020B0609020204030204" pitchFamily="49" charset="0"/>
              </a:rPr>
              <a:t>sp_addlogin</a:t>
            </a:r>
            <a:r>
              <a:rPr lang="vi-VN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vi-VN" sz="1600" dirty="0">
                <a:solidFill>
                  <a:srgbClr val="FF0000"/>
                </a:solidFill>
                <a:latin typeface="Consolas" panose="020B0609020204030204" pitchFamily="49" charset="0"/>
              </a:rPr>
              <a:t>'GymCustomerLogin'</a:t>
            </a:r>
            <a:r>
              <a:rPr lang="vi-VN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vi-V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1600" dirty="0">
                <a:solidFill>
                  <a:srgbClr val="FF0000"/>
                </a:solidFill>
                <a:latin typeface="Consolas" panose="020B0609020204030204" pitchFamily="49" charset="0"/>
              </a:rPr>
              <a:t>'GymCustomerLogin!’</a:t>
            </a:r>
            <a:r>
              <a:rPr lang="vi-VN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vi-VN" sz="1600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vi-V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1600" dirty="0">
                <a:solidFill>
                  <a:srgbClr val="800000"/>
                </a:solidFill>
                <a:latin typeface="Consolas" panose="020B0609020204030204" pitchFamily="49" charset="0"/>
              </a:rPr>
              <a:t>sp_addrole</a:t>
            </a:r>
            <a:r>
              <a:rPr lang="vi-VN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vi-VN" sz="1600" dirty="0">
                <a:solidFill>
                  <a:srgbClr val="FF0000"/>
                </a:solidFill>
                <a:latin typeface="Consolas" panose="020B0609020204030204" pitchFamily="49" charset="0"/>
              </a:rPr>
              <a:t>'CustomerRole’</a:t>
            </a:r>
            <a:r>
              <a:rPr lang="vi-VN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ROLE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MEMBER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GymCustomerUser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vi-V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8E2CB7-9A41-D4FC-5289-23FF02765A67}"/>
              </a:ext>
            </a:extLst>
          </p:cNvPr>
          <p:cNvSpPr txBox="1"/>
          <p:nvPr/>
        </p:nvSpPr>
        <p:spPr>
          <a:xfrm>
            <a:off x="3063239" y="3429000"/>
            <a:ext cx="7366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sp_KhachHangLogin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sp_DangKyLop_KiemTra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sp_KhachHangDangKy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sp_ThemVaoGioHang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sp_DangKyTapThu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vi-V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GoiTap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LopHoc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ChuyenMon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SanPham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LoaiSanPham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HINHANH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LoaiKhachHang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vi-V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vi-V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vi-VN" sz="16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vi-VN" sz="16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vi-VN" sz="1600" dirty="0">
                <a:solidFill>
                  <a:srgbClr val="000000"/>
                </a:solidFill>
                <a:latin typeface="Consolas" panose="020B0609020204030204" pitchFamily="49" charset="0"/>
              </a:rPr>
              <a:t>NhanVien </a:t>
            </a:r>
            <a:r>
              <a:rPr lang="vi-VN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vi-VN" sz="1600" dirty="0">
                <a:solidFill>
                  <a:srgbClr val="000000"/>
                </a:solidFill>
                <a:latin typeface="Consolas" panose="020B0609020204030204" pitchFamily="49" charset="0"/>
              </a:rPr>
              <a:t> CustomerRole</a:t>
            </a:r>
            <a:r>
              <a:rPr lang="vi-VN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vi-V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7354D-89C5-B43C-D1DE-91AD7E7F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18</a:t>
            </a:fld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699832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vi-V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6250B4-EBCF-B127-7AAA-5942A28B6395}"/>
              </a:ext>
            </a:extLst>
          </p:cNvPr>
          <p:cNvSpPr txBox="1"/>
          <p:nvPr/>
        </p:nvSpPr>
        <p:spPr>
          <a:xfrm>
            <a:off x="4075054" y="1453363"/>
            <a:ext cx="4041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dirty="0"/>
              <a:t>User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endParaRPr lang="vi-V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98381-D2B0-F9E9-AFA5-9FB88D524AFA}"/>
              </a:ext>
            </a:extLst>
          </p:cNvPr>
          <p:cNvSpPr txBox="1"/>
          <p:nvPr/>
        </p:nvSpPr>
        <p:spPr>
          <a:xfrm>
            <a:off x="2838072" y="2688916"/>
            <a:ext cx="77588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KhachHang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DiaChi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HoaDon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ChiTietHoaDon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DangKyGoiTap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DangKyLop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DangKyPT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LichLop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LichTapPT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ChiTietGioHang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CustomerRole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3D9A7-642B-280D-B7DB-E72D3B8E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19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89806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vi-V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DF098-0B2B-177A-F36A-3D34B5BE22F9}"/>
              </a:ext>
            </a:extLst>
          </p:cNvPr>
          <p:cNvSpPr txBox="1"/>
          <p:nvPr/>
        </p:nvSpPr>
        <p:spPr>
          <a:xfrm>
            <a:off x="2840167" y="1372083"/>
            <a:ext cx="6511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Stored Procedures &amp; Transaction</a:t>
            </a:r>
          </a:p>
          <a:p>
            <a:endParaRPr lang="vi-V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15617D-5FF5-BBC2-B117-FD25D6B50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762298"/>
              </p:ext>
            </p:extLst>
          </p:nvPr>
        </p:nvGraphicFramePr>
        <p:xfrm>
          <a:off x="1778000" y="2397152"/>
          <a:ext cx="9011920" cy="3489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33026">
                  <a:extLst>
                    <a:ext uri="{9D8B030D-6E8A-4147-A177-3AD203B41FA5}">
                      <a16:colId xmlns:a16="http://schemas.microsoft.com/office/drawing/2014/main" val="2623448325"/>
                    </a:ext>
                  </a:extLst>
                </a:gridCol>
                <a:gridCol w="5778894">
                  <a:extLst>
                    <a:ext uri="{9D8B030D-6E8A-4147-A177-3AD203B41FA5}">
                      <a16:colId xmlns:a16="http://schemas.microsoft.com/office/drawing/2014/main" val="3435014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Tên Procedure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Chức năng &amp; Kỹ thuật SQL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092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sp_ThemVaoGioHang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Xử lý logic thêm giỏ hàng an toàn.</a:t>
                      </a:r>
                      <a:br>
                        <a:rPr lang="vi-V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vi-VN" sz="1800" b="0" i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★ Transaction</a:t>
                      </a:r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 Đảm bảo không thêm được hàng nếu giá lỗi hoặc kho hết.</a:t>
                      </a:r>
                      <a:br>
                        <a:rPr lang="vi-V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vi-VN" sz="1800" b="0" i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★ RAISERROR</a:t>
                      </a:r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 Bắn lỗi "Hết hàng" về C#.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78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sp_KhachHangDangKy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Đăng ký tài khoản mới.</a:t>
                      </a:r>
                      <a:br>
                        <a:rPr lang="vi-V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vi-VN" sz="1800" b="0" i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★ Transaction</a:t>
                      </a:r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 Rollback ngay lập tức nếu trùng SĐT hoặc Email.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vi-VN" sz="1800" b="0" i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★ RAISERROR</a:t>
                      </a:r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 Bắn lỗi “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Trùng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thông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tin</a:t>
                      </a:r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" về C#.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69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sp_KhachHangLogin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Truy vấn đăng nhập tối ưu hiệu suất.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77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sp_DangKyLop_KiemTra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Kiểm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sĩ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lớp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trước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khi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đăng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ký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1638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A926D-6D8E-38B1-B850-7431A3A77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2664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vi-V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DF098-0B2B-177A-F36A-3D34B5BE22F9}"/>
              </a:ext>
            </a:extLst>
          </p:cNvPr>
          <p:cNvSpPr txBox="1"/>
          <p:nvPr/>
        </p:nvSpPr>
        <p:spPr>
          <a:xfrm>
            <a:off x="2840167" y="1372083"/>
            <a:ext cx="6511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Trigger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lang="vi-V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15617D-5FF5-BBC2-B117-FD25D6B50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360712"/>
              </p:ext>
            </p:extLst>
          </p:nvPr>
        </p:nvGraphicFramePr>
        <p:xfrm>
          <a:off x="1777999" y="2397152"/>
          <a:ext cx="9310546" cy="3114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73677">
                  <a:extLst>
                    <a:ext uri="{9D8B030D-6E8A-4147-A177-3AD203B41FA5}">
                      <a16:colId xmlns:a16="http://schemas.microsoft.com/office/drawing/2014/main" val="2623448325"/>
                    </a:ext>
                  </a:extLst>
                </a:gridCol>
                <a:gridCol w="1817225">
                  <a:extLst>
                    <a:ext uri="{9D8B030D-6E8A-4147-A177-3AD203B41FA5}">
                      <a16:colId xmlns:a16="http://schemas.microsoft.com/office/drawing/2014/main" val="3927017576"/>
                    </a:ext>
                  </a:extLst>
                </a:gridCol>
                <a:gridCol w="3819644">
                  <a:extLst>
                    <a:ext uri="{9D8B030D-6E8A-4147-A177-3AD203B41FA5}">
                      <a16:colId xmlns:a16="http://schemas.microsoft.com/office/drawing/2014/main" val="3435014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Tên Trigger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Sự kiện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Hành động tự động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092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trg_CapNhatSoLuongTon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After Insert</a:t>
                      </a:r>
                      <a:br>
                        <a:rPr lang="vi-V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(ChiTietHoaDon)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Tự động </a:t>
                      </a:r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TRỪ (-)</a:t>
                      </a:r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số lượng tồn kho trong bảng SanPham tương ứng với số lượng khách mua.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78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trg_CapNhatLoaiKhachHangHoaDon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After Insert</a:t>
                      </a:r>
                      <a:br>
                        <a:rPr lang="vi-VN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vi-VN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(HoaDon)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Tự động </a:t>
                      </a:r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NÂNG HẠNG</a:t>
                      </a:r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thành viên:</a:t>
                      </a:r>
                      <a:br>
                        <a:rPr lang="vi-V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Tổng chi &gt; 1tr -&gt; Member</a:t>
                      </a:r>
                      <a:br>
                        <a:rPr lang="vi-V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Tổng chi &gt; 5tr -&gt; VIP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69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b="1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trg_CapNhatLoaiKhachHang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AFTER INSERT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KhachHang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Tự độn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chọn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loại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thành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viên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tuổi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&lt; 22 -&gt;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Học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sinh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sinh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viên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tuổi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&gt;= 22 -&gt; Null 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7714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0C174-45E3-DDC6-0544-B3C20E22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07278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0A47E-4FFC-944A-E9E1-18F8FDCC3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BAA7C-44DB-4814-637E-84B03FB9C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BA8114-CBB1-A153-92B8-714167031A5C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0E44E3D1-4DAD-266C-5025-C462EABCF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35530" y="1640185"/>
            <a:ext cx="1972310" cy="19723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4FF7E9-4D7A-B4CA-DB02-451DE1D36214}"/>
              </a:ext>
            </a:extLst>
          </p:cNvPr>
          <p:cNvSpPr txBox="1"/>
          <p:nvPr/>
        </p:nvSpPr>
        <p:spPr>
          <a:xfrm>
            <a:off x="1805940" y="3713780"/>
            <a:ext cx="30810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Gia Thuận</a:t>
            </a:r>
            <a:endParaRPr lang="vi-VN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6CE03-6684-2115-AB5A-AEB343F14055}"/>
              </a:ext>
            </a:extLst>
          </p:cNvPr>
          <p:cNvSpPr txBox="1"/>
          <p:nvPr/>
        </p:nvSpPr>
        <p:spPr>
          <a:xfrm>
            <a:off x="2138045" y="4679206"/>
            <a:ext cx="2367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i="0" dirty="0">
                <a:solidFill>
                  <a:srgbClr val="E74C3C"/>
                </a:solidFill>
                <a:effectLst/>
                <a:latin typeface="Ubuntu" panose="020B0504030602030204" pitchFamily="34" charset="0"/>
              </a:rPr>
              <a:t>Web Client Developer</a:t>
            </a:r>
            <a:endParaRPr lang="vi-VN" sz="3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0BD5999-2E75-9B46-2457-CEF6861872B7}"/>
              </a:ext>
            </a:extLst>
          </p:cNvPr>
          <p:cNvGrpSpPr/>
          <p:nvPr/>
        </p:nvGrpSpPr>
        <p:grpSpPr>
          <a:xfrm>
            <a:off x="5317490" y="1640185"/>
            <a:ext cx="6132830" cy="4496455"/>
            <a:chOff x="7015480" y="2043802"/>
            <a:chExt cx="4185920" cy="40013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FC260CE-26CA-594C-362D-3855F5C96D75}"/>
                </a:ext>
              </a:extLst>
            </p:cNvPr>
            <p:cNvSpPr/>
            <p:nvPr/>
          </p:nvSpPr>
          <p:spPr>
            <a:xfrm>
              <a:off x="7015480" y="2043802"/>
              <a:ext cx="4104640" cy="4001398"/>
            </a:xfrm>
            <a:prstGeom prst="roundRect">
              <a:avLst>
                <a:gd name="adj" fmla="val 558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dirty="0">
                <a:solidFill>
                  <a:schemeClr val="tx1"/>
                </a:solidFill>
                <a:highlight>
                  <a:srgbClr val="808080"/>
                </a:highlight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A5477C3-7B49-695C-4D89-BF64F599479F}"/>
                </a:ext>
              </a:extLst>
            </p:cNvPr>
            <p:cNvSpPr/>
            <p:nvPr/>
          </p:nvSpPr>
          <p:spPr>
            <a:xfrm>
              <a:off x="7096760" y="2043802"/>
              <a:ext cx="4104640" cy="4001398"/>
            </a:xfrm>
            <a:prstGeom prst="roundRect">
              <a:avLst>
                <a:gd name="adj" fmla="val 558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dirty="0">
                <a:solidFill>
                  <a:schemeClr val="tx1"/>
                </a:solidFill>
                <a:highlight>
                  <a:srgbClr val="808080"/>
                </a:highlight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D81ECEA-0C10-E572-7FBA-00B430B92E92}"/>
              </a:ext>
            </a:extLst>
          </p:cNvPr>
          <p:cNvSpPr txBox="1"/>
          <p:nvPr/>
        </p:nvSpPr>
        <p:spPr>
          <a:xfrm>
            <a:off x="6458585" y="1872231"/>
            <a:ext cx="3791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MODULE Quản </a:t>
            </a:r>
            <a:r>
              <a:rPr lang="en-US" sz="3200" b="1" dirty="0" err="1">
                <a:solidFill>
                  <a:schemeClr val="bg1"/>
                </a:solidFill>
              </a:rPr>
              <a:t>lý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01B3DDFF-C816-78C7-E10B-D259C58B8E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5945" y="1810676"/>
            <a:ext cx="802640" cy="8026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F28920-ADE9-CA79-2881-44F73CF8899C}"/>
              </a:ext>
            </a:extLst>
          </p:cNvPr>
          <p:cNvSpPr txBox="1"/>
          <p:nvPr/>
        </p:nvSpPr>
        <p:spPr>
          <a:xfrm>
            <a:off x="5514975" y="2457006"/>
            <a:ext cx="5935345" cy="3483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Quản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nhân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viên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chuyên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môn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chứ</a:t>
            </a:r>
            <a:r>
              <a:rPr lang="en-US" sz="3000" b="1" dirty="0" err="1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vụ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000" b="1" dirty="0" err="1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nhân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viên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chuyên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môn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000" b="1" i="0" dirty="0">
              <a:solidFill>
                <a:srgbClr val="EEEEE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Quản </a:t>
            </a:r>
            <a:r>
              <a:rPr lang="en-US" sz="3000" b="1" dirty="0" err="1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lớp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học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lịch</a:t>
            </a:r>
            <a:r>
              <a:rPr lang="en-US" sz="3000" b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lớp</a:t>
            </a:r>
            <a:r>
              <a:rPr lang="vi-VN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000" b="1" i="0" dirty="0">
              <a:solidFill>
                <a:srgbClr val="EEEEE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Quản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công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nhân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viên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vào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lớp</a:t>
            </a:r>
            <a:endParaRPr lang="vi-VN" sz="3000" b="1" i="0" dirty="0">
              <a:solidFill>
                <a:srgbClr val="EEEEE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CB3F60-61F7-C274-8704-B1996EE528FB}"/>
              </a:ext>
            </a:extLst>
          </p:cNvPr>
          <p:cNvSpPr/>
          <p:nvPr/>
        </p:nvSpPr>
        <p:spPr>
          <a:xfrm>
            <a:off x="4677515" y="6311636"/>
            <a:ext cx="1814016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i="0" dirty="0">
                <a:solidFill>
                  <a:srgbClr val="0070C0"/>
                </a:solidFill>
                <a:effectLst/>
                <a:latin typeface="Ubuntu" panose="020B0504030602030204" pitchFamily="34" charset="0"/>
              </a:rPr>
              <a:t>ASP.NET MVC 5</a:t>
            </a:r>
            <a:endParaRPr lang="vi-VN" sz="1600" dirty="0">
              <a:solidFill>
                <a:srgbClr val="0070C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CFE375-DD7E-A49B-2F27-EBA96B4DDCE3}"/>
              </a:ext>
            </a:extLst>
          </p:cNvPr>
          <p:cNvSpPr/>
          <p:nvPr/>
        </p:nvSpPr>
        <p:spPr>
          <a:xfrm>
            <a:off x="6714079" y="6307131"/>
            <a:ext cx="2032037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rgbClr val="0070C0"/>
                </a:solidFill>
              </a:rPr>
              <a:t>Entity Framework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D94596-6BAB-2DB0-AFC0-7B06539F98C6}"/>
              </a:ext>
            </a:extLst>
          </p:cNvPr>
          <p:cNvSpPr/>
          <p:nvPr/>
        </p:nvSpPr>
        <p:spPr>
          <a:xfrm>
            <a:off x="8968664" y="6307131"/>
            <a:ext cx="1281253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rgbClr val="0070C0"/>
                </a:solidFill>
              </a:rPr>
              <a:t>SQL Server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772B22-8F33-FF9B-998A-9AE27705C399}"/>
              </a:ext>
            </a:extLst>
          </p:cNvPr>
          <p:cNvSpPr/>
          <p:nvPr/>
        </p:nvSpPr>
        <p:spPr>
          <a:xfrm>
            <a:off x="10472465" y="6323001"/>
            <a:ext cx="1567135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rgbClr val="0070C0"/>
                </a:solidFill>
              </a:rPr>
              <a:t>AJAX/jQuery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DE3DA3C-E8FC-183B-6555-10A11A09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22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15735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AD37-DD5E-6DF6-0013-85B7A050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6C3DA-4949-B9B1-4F1C-2E933AD1A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2D689-FDC9-00A9-DCCE-EE905867E7D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34220-7E9E-79DE-D56F-8DD4DB8496F1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vi-V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ECDB7E-2BBF-CF0C-2828-77DE421890C6}"/>
              </a:ext>
            </a:extLst>
          </p:cNvPr>
          <p:cNvSpPr txBox="1"/>
          <p:nvPr/>
        </p:nvSpPr>
        <p:spPr>
          <a:xfrm>
            <a:off x="4075054" y="1453363"/>
            <a:ext cx="4041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dirty="0"/>
              <a:t>User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endParaRPr lang="vi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267B22-3D9B-E933-4812-443043DF04EB}"/>
              </a:ext>
            </a:extLst>
          </p:cNvPr>
          <p:cNvSpPr txBox="1"/>
          <p:nvPr/>
        </p:nvSpPr>
        <p:spPr>
          <a:xfrm>
            <a:off x="3063239" y="2284360"/>
            <a:ext cx="7366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dirty="0">
                <a:solidFill>
                  <a:srgbClr val="008000"/>
                </a:solidFill>
                <a:latin typeface="Consolas" panose="020B0609020204030204" pitchFamily="49" charset="0"/>
              </a:rPr>
              <a:t>-- Login cho ứng dụng web (đại diện quyền khách hàng)</a:t>
            </a:r>
            <a:endParaRPr lang="vi-V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vi-VN" sz="1600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vi-V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1600" dirty="0" err="1">
                <a:solidFill>
                  <a:srgbClr val="800000"/>
                </a:solidFill>
                <a:latin typeface="Consolas" panose="020B0609020204030204" pitchFamily="49" charset="0"/>
              </a:rPr>
              <a:t>sp_addlogin</a:t>
            </a:r>
            <a:r>
              <a:rPr lang="vi-VN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vi-VN" sz="1600" dirty="0">
                <a:solidFill>
                  <a:srgbClr val="FF0000"/>
                </a:solidFill>
                <a:latin typeface="Consolas" panose="020B0609020204030204" pitchFamily="49" charset="0"/>
              </a:rPr>
              <a:t>‘</a:t>
            </a:r>
            <a:r>
              <a:rPr lang="vi-VN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Gym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Manager</a:t>
            </a:r>
            <a:r>
              <a:rPr lang="vi-VN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Login</a:t>
            </a:r>
            <a:r>
              <a:rPr lang="vi-VN" sz="16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vi-VN" sz="1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vi-V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16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vi-VN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Gym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Manager</a:t>
            </a:r>
            <a:r>
              <a:rPr lang="vi-VN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Login</a:t>
            </a:r>
            <a:r>
              <a:rPr lang="vi-VN" sz="1600" dirty="0">
                <a:solidFill>
                  <a:srgbClr val="FF0000"/>
                </a:solidFill>
                <a:latin typeface="Consolas" panose="020B0609020204030204" pitchFamily="49" charset="0"/>
              </a:rPr>
              <a:t>!’</a:t>
            </a:r>
            <a:r>
              <a:rPr lang="vi-VN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vi-VN" sz="1600" dirty="0">
                <a:solidFill>
                  <a:srgbClr val="0000FF"/>
                </a:solidFill>
                <a:latin typeface="Consolas" panose="020B0609020204030204" pitchFamily="49" charset="0"/>
              </a:rPr>
              <a:t>EXEC</a:t>
            </a:r>
            <a:r>
              <a:rPr lang="vi-V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vi-VN" sz="1600" dirty="0" err="1">
                <a:solidFill>
                  <a:srgbClr val="800000"/>
                </a:solidFill>
                <a:latin typeface="Consolas" panose="020B0609020204030204" pitchFamily="49" charset="0"/>
              </a:rPr>
              <a:t>sp_addrole</a:t>
            </a:r>
            <a:r>
              <a:rPr lang="vi-VN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vi-VN" sz="1600" dirty="0">
                <a:solidFill>
                  <a:srgbClr val="FF0000"/>
                </a:solidFill>
                <a:latin typeface="Consolas" panose="020B0609020204030204" pitchFamily="49" charset="0"/>
              </a:rPr>
              <a:t>‘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ManagerRole</a:t>
            </a:r>
            <a:r>
              <a:rPr lang="vi-VN" sz="1600" dirty="0">
                <a:solidFill>
                  <a:srgbClr val="FF0000"/>
                </a:solidFill>
                <a:latin typeface="Consolas" panose="020B0609020204030204" pitchFamily="49" charset="0"/>
              </a:rPr>
              <a:t>’</a:t>
            </a:r>
            <a:r>
              <a:rPr lang="vi-VN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ROLE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ManagerRole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MEMBER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GymManagerUser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vi-V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C16B71-43E6-DE4D-A683-3491944F2ABE}"/>
              </a:ext>
            </a:extLst>
          </p:cNvPr>
          <p:cNvSpPr txBox="1"/>
          <p:nvPr/>
        </p:nvSpPr>
        <p:spPr>
          <a:xfrm>
            <a:off x="3063239" y="3449578"/>
            <a:ext cx="80177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dbo.sp_SuaChuyenMon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/>
              <a:t> </a:t>
            </a:r>
            <a:r>
              <a:rPr lang="en-US" dirty="0" err="1"/>
              <a:t>ManagerRole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dbo.sp_SuaLopHoc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/>
              <a:t> </a:t>
            </a:r>
            <a:r>
              <a:rPr lang="en-US" dirty="0" err="1"/>
              <a:t>ManagerRole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dbo.sp_ThemChuyenMon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/>
              <a:t> </a:t>
            </a:r>
            <a:r>
              <a:rPr lang="en-US" dirty="0" err="1"/>
              <a:t>ManagerRole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dbo.sp_ThemChucVu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/>
              <a:t> </a:t>
            </a:r>
            <a:r>
              <a:rPr lang="en-US" dirty="0" err="1"/>
              <a:t>ManagerRole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/>
              <a:t> </a:t>
            </a:r>
            <a:r>
              <a:rPr lang="en-US" dirty="0" err="1"/>
              <a:t>dbo.sp_GanChuyenMonChoNhanVien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/>
              <a:t> </a:t>
            </a:r>
            <a:r>
              <a:rPr lang="en-US" dirty="0" err="1"/>
              <a:t>ManagerRole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dbo.sp_ThemNhanVien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/>
              <a:t> </a:t>
            </a:r>
            <a:r>
              <a:rPr lang="en-US" dirty="0" err="1"/>
              <a:t>ManagerRole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dbo.sp_XoaChucVu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/>
              <a:t> </a:t>
            </a:r>
            <a:r>
              <a:rPr lang="en-US" dirty="0" err="1"/>
              <a:t>ManagerRole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dbo.sp_XoaNhanVien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/>
              <a:t> </a:t>
            </a:r>
            <a:r>
              <a:rPr lang="en-US" dirty="0" err="1"/>
              <a:t>ManagerRole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dbo.sp_XoaChuyenMon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/>
              <a:t> </a:t>
            </a:r>
            <a:r>
              <a:rPr lang="en-US" dirty="0" err="1"/>
              <a:t>ManagerRole</a:t>
            </a:r>
            <a:r>
              <a:rPr lang="en-US" dirty="0"/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EXECUTE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/>
              <a:t>dbo.sp_XoaNhanVienChuyenMon</a:t>
            </a:r>
            <a:r>
              <a:rPr lang="en-US" dirty="0"/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/>
              <a:t> </a:t>
            </a:r>
            <a:r>
              <a:rPr lang="en-US" dirty="0" err="1"/>
              <a:t>ManagerRole</a:t>
            </a:r>
            <a:r>
              <a:rPr lang="en-US" dirty="0"/>
              <a:t>;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95DEC7F-7098-0D92-B117-63E22188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37819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DC2B-E1DB-553C-D454-5061F92BB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ABACF-F297-0BD8-3F4E-8B9079663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C7A35-0EF7-ED86-9693-7AEF9C4142EF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A47CC4-FEEB-C230-D8EC-09BC38B03341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vi-V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63747-E032-0D1A-56D4-3B42BF10BC95}"/>
              </a:ext>
            </a:extLst>
          </p:cNvPr>
          <p:cNvSpPr txBox="1"/>
          <p:nvPr/>
        </p:nvSpPr>
        <p:spPr>
          <a:xfrm>
            <a:off x="4075054" y="1453363"/>
            <a:ext cx="4041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dirty="0"/>
              <a:t>User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endParaRPr lang="vi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8434D-E0F0-F2C4-74ED-34814E3E33B5}"/>
              </a:ext>
            </a:extLst>
          </p:cNvPr>
          <p:cNvSpPr txBox="1"/>
          <p:nvPr/>
        </p:nvSpPr>
        <p:spPr>
          <a:xfrm>
            <a:off x="1992497" y="2688916"/>
            <a:ext cx="90982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dbo.NhanVien</a:t>
            </a:r>
            <a:r>
              <a:rPr lang="en-US" dirty="0">
                <a:latin typeface="Consolas" panose="020B0609020204030204" pitchFamily="49" charset="0"/>
              </a:rPr>
              <a:t> TO </a:t>
            </a:r>
            <a:r>
              <a:rPr lang="en-US" dirty="0" err="1">
                <a:latin typeface="Consolas" panose="020B0609020204030204" pitchFamily="49" charset="0"/>
              </a:rPr>
              <a:t>ManagerRole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dbo.ChucVu</a:t>
            </a:r>
            <a:r>
              <a:rPr lang="en-US" dirty="0">
                <a:latin typeface="Consolas" panose="020B0609020204030204" pitchFamily="49" charset="0"/>
              </a:rPr>
              <a:t> TO </a:t>
            </a:r>
            <a:r>
              <a:rPr lang="en-US" dirty="0" err="1">
                <a:latin typeface="Consolas" panose="020B0609020204030204" pitchFamily="49" charset="0"/>
              </a:rPr>
              <a:t>ManagerRole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dbo.ChuyenMon</a:t>
            </a:r>
            <a:r>
              <a:rPr lang="en-US" dirty="0">
                <a:latin typeface="Consolas" panose="020B0609020204030204" pitchFamily="49" charset="0"/>
              </a:rPr>
              <a:t> TO </a:t>
            </a:r>
            <a:r>
              <a:rPr lang="en-US" dirty="0" err="1">
                <a:latin typeface="Consolas" panose="020B0609020204030204" pitchFamily="49" charset="0"/>
              </a:rPr>
              <a:t>ManagerRole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dbo.NhanVienChuyenMon</a:t>
            </a:r>
            <a:r>
              <a:rPr lang="en-US" dirty="0">
                <a:latin typeface="Consolas" panose="020B0609020204030204" pitchFamily="49" charset="0"/>
              </a:rPr>
              <a:t> TO </a:t>
            </a:r>
            <a:r>
              <a:rPr lang="en-US" dirty="0" err="1">
                <a:latin typeface="Consolas" panose="020B0609020204030204" pitchFamily="49" charset="0"/>
              </a:rPr>
              <a:t>ManagerRole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dbo.GoiTap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ManagerRole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dbo.LopHoc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ManagerRole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dbo.LichLop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ManagerRole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dbo.HoaDon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ManagerRole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dbo.ChiTietHoaDon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ManagerRole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GRANT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DiaChi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ManagerRole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6872E-C702-8ECD-ADCB-9F02DBCD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24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11315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32DD2-F76B-1934-393A-CA323019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29F62-C7A7-A522-CA42-1BD721CDD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C4A0F-7869-A0BC-8934-1DBF0266F3F9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5CB584-B05E-C047-A621-7A1E3A2FCD06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vi-V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0DC57-F3F6-D7DA-51C8-5B782250E6E0}"/>
              </a:ext>
            </a:extLst>
          </p:cNvPr>
          <p:cNvSpPr txBox="1"/>
          <p:nvPr/>
        </p:nvSpPr>
        <p:spPr>
          <a:xfrm>
            <a:off x="2840167" y="1372083"/>
            <a:ext cx="6511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Stored Procedures &amp; Transaction</a:t>
            </a:r>
          </a:p>
          <a:p>
            <a:endParaRPr lang="vi-V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8077CA-74B8-259C-6DE0-A3B23056230A}"/>
              </a:ext>
            </a:extLst>
          </p:cNvPr>
          <p:cNvGraphicFramePr>
            <a:graphicFrameLocks noGrp="1"/>
          </p:cNvGraphicFramePr>
          <p:nvPr/>
        </p:nvGraphicFramePr>
        <p:xfrm>
          <a:off x="1778000" y="2397152"/>
          <a:ext cx="9575800" cy="41947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35318">
                  <a:extLst>
                    <a:ext uri="{9D8B030D-6E8A-4147-A177-3AD203B41FA5}">
                      <a16:colId xmlns:a16="http://schemas.microsoft.com/office/drawing/2014/main" val="2623448325"/>
                    </a:ext>
                  </a:extLst>
                </a:gridCol>
                <a:gridCol w="6140482">
                  <a:extLst>
                    <a:ext uri="{9D8B030D-6E8A-4147-A177-3AD203B41FA5}">
                      <a16:colId xmlns:a16="http://schemas.microsoft.com/office/drawing/2014/main" val="3435014898"/>
                    </a:ext>
                  </a:extLst>
                </a:gridCol>
              </a:tblGrid>
              <a:tr h="451464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Tên Procedure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Chức năng &amp; Kỹ thuật SQL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092714"/>
                  </a:ext>
                </a:extLst>
              </a:tr>
              <a:tr h="1447158">
                <a:tc>
                  <a:txBody>
                    <a:bodyPr/>
                    <a:lstStyle/>
                    <a:p>
                      <a:r>
                        <a:rPr lang="en-US" b="1" dirty="0" err="1"/>
                        <a:t>sp_XoaChuyenMon</a:t>
                      </a:r>
                      <a:r>
                        <a:rPr lang="en-US" b="1" dirty="0"/>
                        <a:t> 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Xóa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chuyên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môn</a:t>
                      </a:r>
                      <a:r>
                        <a:rPr lang="en-US" dirty="0"/>
                        <a:t>.</a:t>
                      </a:r>
                      <a:br>
                        <a:rPr lang="vi-V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dirty="0"/>
                        <a:t>★ </a:t>
                      </a:r>
                      <a:r>
                        <a:rPr lang="en-US" b="1" dirty="0" err="1"/>
                        <a:t>Ràng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buộc</a:t>
                      </a:r>
                      <a:r>
                        <a:rPr lang="en-US" b="1" dirty="0"/>
                        <a:t>: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Cấm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xóa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nếu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này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đang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có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Lớp</a:t>
                      </a:r>
                      <a:r>
                        <a:rPr lang="en-US" dirty="0"/>
                        <a:t> Học </a:t>
                      </a:r>
                      <a:r>
                        <a:rPr lang="en-US" dirty="0" err="1"/>
                        <a:t>hoạt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động</a:t>
                      </a:r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/>
                        <a:t>★ </a:t>
                      </a:r>
                      <a:r>
                        <a:rPr lang="en-US" b="1" dirty="0" err="1"/>
                        <a:t>Dọn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dẹp</a:t>
                      </a:r>
                      <a:r>
                        <a:rPr lang="en-US" b="1" dirty="0"/>
                        <a:t>: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Tự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động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này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khỏi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tất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đang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hữu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783132"/>
                  </a:ext>
                </a:extLst>
              </a:tr>
              <a:tr h="722460">
                <a:tc>
                  <a:txBody>
                    <a:bodyPr/>
                    <a:lstStyle/>
                    <a:p>
                      <a:r>
                        <a:rPr lang="vi-VN" sz="1800" b="1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</a:t>
                      </a:r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_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GanChuyenMonChoNhanVien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Cấp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chứng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chỉ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dạy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.</a:t>
                      </a:r>
                    </a:p>
                    <a:p>
                      <a:r>
                        <a:rPr lang="vi-VN" dirty="0"/>
                        <a:t>★ </a:t>
                      </a:r>
                      <a:r>
                        <a:rPr lang="vi-VN" b="1" dirty="0" err="1"/>
                        <a:t>Logic</a:t>
                      </a:r>
                      <a:r>
                        <a:rPr lang="vi-VN" b="1" dirty="0"/>
                        <a:t>:</a:t>
                      </a:r>
                      <a:r>
                        <a:rPr lang="vi-VN" dirty="0"/>
                        <a:t> Kiểm tra nhân viên có phải là PT/HLV Lớp không? Kiểm tra đã có môn này chưa?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69560"/>
                  </a:ext>
                </a:extLst>
              </a:tr>
              <a:tr h="451464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sp_XoaNhanVien</a:t>
                      </a:r>
                      <a:endParaRPr lang="vi-VN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Xóa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khỏi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hệ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thống</a:t>
                      </a:r>
                      <a:r>
                        <a:rPr lang="en-US" dirty="0"/>
                        <a:t>.</a:t>
                      </a:r>
                    </a:p>
                    <a:p>
                      <a:r>
                        <a:rPr lang="vi-VN" sz="1800" b="0" i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★ </a:t>
                      </a:r>
                      <a:r>
                        <a:rPr lang="vi-VN" sz="1800" b="0" i="0" kern="1200" dirty="0" err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Transaction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1" dirty="0"/>
                        <a:t>: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Xóa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dây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chuyền</a:t>
                      </a:r>
                      <a:r>
                        <a:rPr lang="en-US" dirty="0"/>
                        <a:t> (Cascading delete) </a:t>
                      </a:r>
                      <a:r>
                        <a:rPr lang="en-US" dirty="0" err="1"/>
                        <a:t>thủ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: </a:t>
                      </a:r>
                      <a:r>
                        <a:rPr lang="en-US" dirty="0" err="1"/>
                        <a:t>Xóa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lịch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dạy</a:t>
                      </a:r>
                      <a:r>
                        <a:rPr lang="en-US" dirty="0"/>
                        <a:t> -&gt; </a:t>
                      </a:r>
                      <a:r>
                        <a:rPr lang="en-US" dirty="0" err="1"/>
                        <a:t>Xóa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chuyên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môn</a:t>
                      </a:r>
                      <a:r>
                        <a:rPr lang="en-US" dirty="0"/>
                        <a:t> -&gt; </a:t>
                      </a:r>
                      <a:r>
                        <a:rPr lang="en-US" dirty="0" err="1"/>
                        <a:t>Xóa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.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77148"/>
                  </a:ext>
                </a:extLst>
              </a:tr>
              <a:tr h="45146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b="1" dirty="0" err="1"/>
                        <a:t>sp_ThemLichLop</a:t>
                      </a:r>
                      <a:endParaRPr lang="vi-VN" sz="1800" b="1" i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</a:t>
                      </a:r>
                      <a:r>
                        <a:rPr lang="en-US" dirty="0" err="1"/>
                        <a:t>Tự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động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lấy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chủ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nhiệm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nếu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số</a:t>
                      </a:r>
                      <a:r>
                        <a:rPr lang="en-US" dirty="0"/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MaNV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là</a:t>
                      </a:r>
                      <a:r>
                        <a:rPr lang="en-US" dirty="0"/>
                        <a:t> NULL.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16386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8FA0F0-B154-600E-FBE5-8AB02567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97828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20503-4D8E-64F4-C992-E07E83847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3EB29-F82F-E615-CF49-49ED32BB4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5574A-41EB-0F62-157B-37EAF85FDA46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0E1EED-363F-F2C8-B3AE-4D0321CAFCC9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vi-V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E1E44-FF23-A572-FDE4-3BC6F16A8C8D}"/>
              </a:ext>
            </a:extLst>
          </p:cNvPr>
          <p:cNvSpPr txBox="1"/>
          <p:nvPr/>
        </p:nvSpPr>
        <p:spPr>
          <a:xfrm>
            <a:off x="2840167" y="1372083"/>
            <a:ext cx="6511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Stored Procedures &amp; Transaction</a:t>
            </a:r>
          </a:p>
          <a:p>
            <a:endParaRPr lang="vi-V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4464C4-1A7A-D153-F6A9-9530559CF729}"/>
              </a:ext>
            </a:extLst>
          </p:cNvPr>
          <p:cNvGraphicFramePr>
            <a:graphicFrameLocks noGrp="1"/>
          </p:cNvGraphicFramePr>
          <p:nvPr/>
        </p:nvGraphicFramePr>
        <p:xfrm>
          <a:off x="1866490" y="2031616"/>
          <a:ext cx="9575800" cy="44689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35318">
                  <a:extLst>
                    <a:ext uri="{9D8B030D-6E8A-4147-A177-3AD203B41FA5}">
                      <a16:colId xmlns:a16="http://schemas.microsoft.com/office/drawing/2014/main" val="2623448325"/>
                    </a:ext>
                  </a:extLst>
                </a:gridCol>
                <a:gridCol w="6140482">
                  <a:extLst>
                    <a:ext uri="{9D8B030D-6E8A-4147-A177-3AD203B41FA5}">
                      <a16:colId xmlns:a16="http://schemas.microsoft.com/office/drawing/2014/main" val="3435014898"/>
                    </a:ext>
                  </a:extLst>
                </a:gridCol>
              </a:tblGrid>
              <a:tr h="451464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Tên Procedure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Chức năng &amp; Kỹ thuật SQL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092714"/>
                  </a:ext>
                </a:extLst>
              </a:tr>
              <a:tr h="1005629">
                <a:tc>
                  <a:txBody>
                    <a:bodyPr/>
                    <a:lstStyle/>
                    <a:p>
                      <a:r>
                        <a:rPr lang="en-US" b="1" dirty="0" err="1"/>
                        <a:t>sp_ThemNhanVien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Thêm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mới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★ </a:t>
                      </a:r>
                      <a:r>
                        <a:rPr lang="en-US" b="1" dirty="0"/>
                        <a:t>Logic: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trùng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đăng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nhập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783132"/>
                  </a:ext>
                </a:extLst>
              </a:tr>
              <a:tr h="908687">
                <a:tc>
                  <a:txBody>
                    <a:bodyPr/>
                    <a:lstStyle/>
                    <a:p>
                      <a:r>
                        <a:rPr lang="en-US" b="1" dirty="0" err="1"/>
                        <a:t>sp_ThemChucVu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Thêm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vụ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mới</a:t>
                      </a:r>
                      <a:r>
                        <a:rPr lang="en-US" dirty="0"/>
                        <a:t> (VD: Quản </a:t>
                      </a:r>
                      <a:r>
                        <a:rPr lang="en-US" dirty="0" err="1"/>
                        <a:t>lý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Lễ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tân</a:t>
                      </a:r>
                      <a:r>
                        <a:rPr lang="en-US" dirty="0"/>
                        <a:t>).</a:t>
                      </a:r>
                    </a:p>
                    <a:p>
                      <a:r>
                        <a:rPr lang="en-US" dirty="0"/>
                        <a:t>★ </a:t>
                      </a:r>
                      <a:r>
                        <a:rPr lang="en-US" b="1" dirty="0"/>
                        <a:t>Logic: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trùng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vụ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69560"/>
                  </a:ext>
                </a:extLst>
              </a:tr>
              <a:tr h="451464">
                <a:tc>
                  <a:txBody>
                    <a:bodyPr/>
                    <a:lstStyle/>
                    <a:p>
                      <a:r>
                        <a:rPr lang="en-US" b="1" dirty="0" err="1"/>
                        <a:t>sp_XoaChucVu</a:t>
                      </a:r>
                      <a:endParaRPr lang="vi-VN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Xóa chức vụ.</a:t>
                      </a:r>
                    </a:p>
                    <a:p>
                      <a:r>
                        <a:rPr lang="vi-VN" dirty="0"/>
                        <a:t>★ </a:t>
                      </a:r>
                      <a:r>
                        <a:rPr lang="vi-VN" b="1" dirty="0" err="1"/>
                        <a:t>Logic</a:t>
                      </a:r>
                      <a:r>
                        <a:rPr lang="vi-VN" b="1" dirty="0"/>
                        <a:t>:</a:t>
                      </a:r>
                      <a:r>
                        <a:rPr lang="vi-VN" dirty="0"/>
                        <a:t> Tự động gỡ chức vụ khỏi nhân viên (</a:t>
                      </a:r>
                      <a:r>
                        <a:rPr lang="vi-VN" dirty="0" err="1"/>
                        <a:t>set</a:t>
                      </a:r>
                      <a:r>
                        <a:rPr lang="vi-VN" dirty="0"/>
                        <a:t> NULL) trước khi xóa chức vụ.</a:t>
                      </a:r>
                    </a:p>
                    <a:p>
                      <a:r>
                        <a:rPr lang="vi-VN" dirty="0"/>
                        <a:t>★ </a:t>
                      </a:r>
                      <a:r>
                        <a:rPr lang="vi-VN" b="1" dirty="0"/>
                        <a:t>Bảo vệ:</a:t>
                      </a:r>
                      <a:r>
                        <a:rPr lang="vi-VN" dirty="0"/>
                        <a:t> Cấm xóa các chức vụ hệ thống (PT, HLV Lớp, Quản lý).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77148"/>
                  </a:ext>
                </a:extLst>
              </a:tr>
              <a:tr h="45146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b="1" dirty="0" err="1"/>
                        <a:t>sp_ThemChuyenMon</a:t>
                      </a:r>
                      <a:endParaRPr lang="vi-VN" sz="1800" b="1" i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• </a:t>
                      </a:r>
                      <a:r>
                        <a:rPr lang="en-US" dirty="0" err="1"/>
                        <a:t>Thêm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chuyên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mới</a:t>
                      </a:r>
                      <a:r>
                        <a:rPr lang="en-US" dirty="0"/>
                        <a:t> (VD: Pilates).</a:t>
                      </a:r>
                    </a:p>
                    <a:p>
                      <a:r>
                        <a:rPr lang="en-US" dirty="0"/>
                        <a:t>★ </a:t>
                      </a:r>
                      <a:r>
                        <a:rPr lang="en-US" b="1" dirty="0"/>
                        <a:t>Logic: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trùng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chuyên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môn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16386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13D704-2AC5-C9FF-BE55-1CCD3AF9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26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60677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4A2F-906D-B95A-69A3-29FB51E27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AF90C-3BFD-8058-6BEB-8C09E0C66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E5AA7-E983-F79D-E54F-87F1079364A8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DD459-FF97-99B2-A488-14763B80404F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vi-V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3331C-E5A7-CF2C-6C27-43EF94112D36}"/>
              </a:ext>
            </a:extLst>
          </p:cNvPr>
          <p:cNvSpPr txBox="1"/>
          <p:nvPr/>
        </p:nvSpPr>
        <p:spPr>
          <a:xfrm>
            <a:off x="2840167" y="1372083"/>
            <a:ext cx="6511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Stored Procedures &amp; Transaction</a:t>
            </a:r>
          </a:p>
          <a:p>
            <a:endParaRPr lang="vi-V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36BC28-3A2B-B78C-BDB5-D273FB081589}"/>
              </a:ext>
            </a:extLst>
          </p:cNvPr>
          <p:cNvGraphicFramePr>
            <a:graphicFrameLocks noGrp="1"/>
          </p:cNvGraphicFramePr>
          <p:nvPr/>
        </p:nvGraphicFramePr>
        <p:xfrm>
          <a:off x="1866490" y="2031616"/>
          <a:ext cx="9575800" cy="424038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35318">
                  <a:extLst>
                    <a:ext uri="{9D8B030D-6E8A-4147-A177-3AD203B41FA5}">
                      <a16:colId xmlns:a16="http://schemas.microsoft.com/office/drawing/2014/main" val="2623448325"/>
                    </a:ext>
                  </a:extLst>
                </a:gridCol>
                <a:gridCol w="6140482">
                  <a:extLst>
                    <a:ext uri="{9D8B030D-6E8A-4147-A177-3AD203B41FA5}">
                      <a16:colId xmlns:a16="http://schemas.microsoft.com/office/drawing/2014/main" val="3435014898"/>
                    </a:ext>
                  </a:extLst>
                </a:gridCol>
              </a:tblGrid>
              <a:tr h="451464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Tên Procedure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Chức năng &amp; Kỹ thuật SQL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092714"/>
                  </a:ext>
                </a:extLst>
              </a:tr>
              <a:tr h="771397">
                <a:tc>
                  <a:txBody>
                    <a:bodyPr/>
                    <a:lstStyle/>
                    <a:p>
                      <a:r>
                        <a:rPr lang="en-US" b="1" dirty="0" err="1"/>
                        <a:t>sp_SuaChuyenMon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Sửa </a:t>
                      </a:r>
                      <a:r>
                        <a:rPr lang="en-US" dirty="0" err="1"/>
                        <a:t>tên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mô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chuyên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môn</a:t>
                      </a:r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/>
                        <a:t>★ </a:t>
                      </a:r>
                      <a:r>
                        <a:rPr lang="en-US" b="1" dirty="0"/>
                        <a:t>Logic: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trùng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tên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trừ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chính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nó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ra</a:t>
                      </a:r>
                      <a:r>
                        <a:rPr lang="en-US" dirty="0"/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783132"/>
                  </a:ext>
                </a:extLst>
              </a:tr>
              <a:tr h="908687">
                <a:tc>
                  <a:txBody>
                    <a:bodyPr/>
                    <a:lstStyle/>
                    <a:p>
                      <a:r>
                        <a:rPr lang="en-US" b="1" dirty="0" err="1"/>
                        <a:t>sp_XoaNhanVienChuyenMon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Gỡ bỏ chuyên môn khỏi nhân viên.</a:t>
                      </a:r>
                    </a:p>
                    <a:p>
                      <a:r>
                        <a:rPr lang="vi-VN" dirty="0"/>
                        <a:t>★ </a:t>
                      </a:r>
                      <a:r>
                        <a:rPr lang="vi-VN" b="1" dirty="0"/>
                        <a:t>Ràng buộc:</a:t>
                      </a:r>
                      <a:r>
                        <a:rPr lang="vi-VN" dirty="0"/>
                        <a:t> Cấm gỡ nếu nhân viên đang có Lịch dạy môn này trong tương lai.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69560"/>
                  </a:ext>
                </a:extLst>
              </a:tr>
              <a:tr h="451464">
                <a:tc>
                  <a:txBody>
                    <a:bodyPr/>
                    <a:lstStyle/>
                    <a:p>
                      <a:r>
                        <a:rPr lang="en-US" b="1" dirty="0" err="1"/>
                        <a:t>sp_SuaLopHoc</a:t>
                      </a:r>
                      <a:endParaRPr lang="vi-VN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Sửa thông tin lớp học.</a:t>
                      </a:r>
                    </a:p>
                    <a:p>
                      <a:r>
                        <a:rPr lang="vi-VN" dirty="0"/>
                        <a:t>★ </a:t>
                      </a:r>
                      <a:r>
                        <a:rPr lang="vi-VN" b="1" dirty="0" err="1"/>
                        <a:t>Logic</a:t>
                      </a:r>
                      <a:r>
                        <a:rPr lang="vi-VN" b="1" dirty="0"/>
                        <a:t>:</a:t>
                      </a:r>
                      <a:r>
                        <a:rPr lang="vi-VN" dirty="0"/>
                        <a:t> Tự động cập nhật lại Giờ học và Giáo viên cho toàn bộ </a:t>
                      </a:r>
                      <a:r>
                        <a:rPr lang="vi-VN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LichLop</a:t>
                      </a:r>
                      <a:r>
                        <a:rPr lang="vi-VN" dirty="0"/>
                        <a:t> chưa diễn ra.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77148"/>
                  </a:ext>
                </a:extLst>
              </a:tr>
              <a:tr h="45146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b="1" dirty="0" err="1"/>
                        <a:t>sp_XoaLopHoc</a:t>
                      </a:r>
                      <a:endParaRPr lang="vi-VN" sz="1800" b="1" i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Xóa lớp học.</a:t>
                      </a:r>
                    </a:p>
                    <a:p>
                      <a:r>
                        <a:rPr lang="vi-VN" dirty="0"/>
                        <a:t>★ </a:t>
                      </a:r>
                      <a:r>
                        <a:rPr lang="vi-VN" b="1" dirty="0" err="1"/>
                        <a:t>Transaction</a:t>
                      </a:r>
                      <a:r>
                        <a:rPr lang="vi-VN" b="1" dirty="0"/>
                        <a:t>:</a:t>
                      </a:r>
                      <a:r>
                        <a:rPr lang="vi-VN" dirty="0"/>
                        <a:t> Xóa sạch Lịch, Đăng ký, Giỏ hàng liên quan trước khi xóa Lớp.</a:t>
                      </a:r>
                    </a:p>
                    <a:p>
                      <a:r>
                        <a:rPr lang="vi-VN" dirty="0"/>
                        <a:t>★ </a:t>
                      </a:r>
                      <a:r>
                        <a:rPr lang="vi-VN" b="1" dirty="0"/>
                        <a:t>Ràng buộc:</a:t>
                      </a:r>
                      <a:r>
                        <a:rPr lang="vi-VN" dirty="0"/>
                        <a:t> Cấm xóa nếu Lớp đã có Hóa đơn.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16386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40F0D5-BA7C-0F54-0D88-587AD303D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27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6318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1ED9-3464-3CB6-67FA-1CAD17A8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C9068-6C07-AB18-7C36-11893070E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BA093-8BAB-C39D-BDEB-DA2F3F982B44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200C5-4FAD-FF78-F702-81184CD1FF10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vi-V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6C8AE3-EB89-95EF-CB95-B9B8A251E626}"/>
              </a:ext>
            </a:extLst>
          </p:cNvPr>
          <p:cNvSpPr txBox="1"/>
          <p:nvPr/>
        </p:nvSpPr>
        <p:spPr>
          <a:xfrm>
            <a:off x="2840167" y="1372083"/>
            <a:ext cx="6511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Trigger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lang="vi-V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8734D4-8509-8D27-BEDD-504220A13219}"/>
              </a:ext>
            </a:extLst>
          </p:cNvPr>
          <p:cNvGraphicFramePr>
            <a:graphicFrameLocks noGrp="1"/>
          </p:cNvGraphicFramePr>
          <p:nvPr/>
        </p:nvGraphicFramePr>
        <p:xfrm>
          <a:off x="1777999" y="2397152"/>
          <a:ext cx="9310546" cy="2199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73677">
                  <a:extLst>
                    <a:ext uri="{9D8B030D-6E8A-4147-A177-3AD203B41FA5}">
                      <a16:colId xmlns:a16="http://schemas.microsoft.com/office/drawing/2014/main" val="2623448325"/>
                    </a:ext>
                  </a:extLst>
                </a:gridCol>
                <a:gridCol w="1817225">
                  <a:extLst>
                    <a:ext uri="{9D8B030D-6E8A-4147-A177-3AD203B41FA5}">
                      <a16:colId xmlns:a16="http://schemas.microsoft.com/office/drawing/2014/main" val="3927017576"/>
                    </a:ext>
                  </a:extLst>
                </a:gridCol>
                <a:gridCol w="3819644">
                  <a:extLst>
                    <a:ext uri="{9D8B030D-6E8A-4147-A177-3AD203B41FA5}">
                      <a16:colId xmlns:a16="http://schemas.microsoft.com/office/drawing/2014/main" val="3435014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Tên Trigger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Sự kiện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Hành động tự động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092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trg_NhanVien_KiemTraTuoi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INSERT/UPDATE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vào</a:t>
                      </a:r>
                      <a:r>
                        <a:rPr lang="en-US" dirty="0"/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NhanVien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Chặn nhập nhân viên </a:t>
                      </a:r>
                      <a:r>
                        <a:rPr lang="vi-VN" b="1" dirty="0"/>
                        <a:t>dưới 18 tuổi</a:t>
                      </a:r>
                      <a:r>
                        <a:rPr lang="en-US" b="1" dirty="0"/>
                        <a:t>.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78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trg_NVCM_KiemTraChucVu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INSERT/UPDATE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vào</a:t>
                      </a:r>
                      <a:r>
                        <a:rPr lang="en-US" dirty="0"/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NhanVienChuyenMon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Chặn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gán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chuyên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những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chức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vụ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quan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Lễ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tân</a:t>
                      </a:r>
                      <a:r>
                        <a:rPr lang="en-US" dirty="0"/>
                        <a:t>, Bảo </a:t>
                      </a:r>
                      <a:r>
                        <a:rPr lang="en-US" dirty="0" err="1"/>
                        <a:t>vệ</a:t>
                      </a:r>
                      <a:r>
                        <a:rPr lang="en-US" dirty="0"/>
                        <a:t>...). </a:t>
                      </a:r>
                      <a:r>
                        <a:rPr lang="en-US" dirty="0" err="1"/>
                        <a:t>Chỉ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phép</a:t>
                      </a:r>
                      <a:r>
                        <a:rPr lang="en-US" dirty="0"/>
                        <a:t> PT/HLV.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77148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0DEAA8-54D9-676B-0F1B-E9C80A738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28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18534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F7564-52A3-3718-D256-94DD4E3E8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2B50F-C87B-533F-3B40-2A8E2D9EB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38DDE-4F63-0D7C-62A4-6A45B57F82FB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F57ED-3867-6369-6B5B-70AEDF4A4DA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vi-V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5F70C-4CE1-BD26-E211-A46DEEFB8D03}"/>
              </a:ext>
            </a:extLst>
          </p:cNvPr>
          <p:cNvSpPr txBox="1"/>
          <p:nvPr/>
        </p:nvSpPr>
        <p:spPr>
          <a:xfrm>
            <a:off x="2840167" y="1372083"/>
            <a:ext cx="6511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Function</a:t>
            </a:r>
            <a:endParaRPr lang="vi-VN" dirty="0"/>
          </a:p>
          <a:p>
            <a:endParaRPr lang="vi-V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F1047B-B205-3FBA-E4A0-17B47A771DBF}"/>
              </a:ext>
            </a:extLst>
          </p:cNvPr>
          <p:cNvGraphicFramePr>
            <a:graphicFrameLocks noGrp="1"/>
          </p:cNvGraphicFramePr>
          <p:nvPr/>
        </p:nvGraphicFramePr>
        <p:xfrm>
          <a:off x="2015613" y="2031616"/>
          <a:ext cx="9426677" cy="21315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86195">
                  <a:extLst>
                    <a:ext uri="{9D8B030D-6E8A-4147-A177-3AD203B41FA5}">
                      <a16:colId xmlns:a16="http://schemas.microsoft.com/office/drawing/2014/main" val="2623448325"/>
                    </a:ext>
                  </a:extLst>
                </a:gridCol>
                <a:gridCol w="6140482">
                  <a:extLst>
                    <a:ext uri="{9D8B030D-6E8A-4147-A177-3AD203B41FA5}">
                      <a16:colId xmlns:a16="http://schemas.microsoft.com/office/drawing/2014/main" val="3435014898"/>
                    </a:ext>
                  </a:extLst>
                </a:gridCol>
              </a:tblGrid>
              <a:tr h="451464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Tên</a:t>
                      </a:r>
                      <a:r>
                        <a:rPr lang="en-US" dirty="0"/>
                        <a:t> Function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Chức năng 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092714"/>
                  </a:ext>
                </a:extLst>
              </a:tr>
              <a:tr h="771397">
                <a:tc>
                  <a:txBody>
                    <a:bodyPr/>
                    <a:lstStyle/>
                    <a:p>
                      <a:r>
                        <a:rPr lang="en-US" b="1" dirty="0" err="1"/>
                        <a:t>f_LayDanhSachChuyenMon</a:t>
                      </a:r>
                      <a:r>
                        <a:rPr lang="en-US" b="1" dirty="0"/>
                        <a:t>...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chuỗi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các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dạy</a:t>
                      </a:r>
                      <a:r>
                        <a:rPr lang="en-US" dirty="0"/>
                        <a:t> (VD: "Yoga, Boxing"). </a:t>
                      </a:r>
                      <a:r>
                        <a:rPr lang="en-US" dirty="0" err="1"/>
                        <a:t>Dùng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hiển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trên</a:t>
                      </a:r>
                      <a:r>
                        <a:rPr lang="en-US" dirty="0"/>
                        <a:t> web.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783132"/>
                  </a:ext>
                </a:extLst>
              </a:tr>
              <a:tr h="908687">
                <a:tc>
                  <a:txBody>
                    <a:bodyPr/>
                    <a:lstStyle/>
                    <a:p>
                      <a:r>
                        <a:rPr lang="en-US" b="1" dirty="0" err="1"/>
                        <a:t>f_DemSoLuongNhanVien</a:t>
                      </a:r>
                      <a:r>
                        <a:rPr lang="en-US" b="1" dirty="0"/>
                        <a:t>...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Đếm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số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viên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đang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sở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hữu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một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chuyên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nào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đó</a:t>
                      </a:r>
                      <a:r>
                        <a:rPr lang="en-US" dirty="0"/>
                        <a:t>. </a:t>
                      </a:r>
                      <a:r>
                        <a:rPr lang="en-US" dirty="0" err="1"/>
                        <a:t>Dùng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cảnh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báo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xóa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môn</a:t>
                      </a:r>
                      <a:r>
                        <a:rPr lang="en-US" dirty="0"/>
                        <a:t>.</a:t>
                      </a:r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69560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AC9DC-C389-3D4A-826C-A545DE7C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29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9929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260AF-3DEF-B553-0A72-D7DCAB15F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5A00C5-F433-BDB9-EC69-D61CEF50A8D0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5A789-BD72-451C-A629-CB8CE31CA71F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3. 2.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endParaRPr lang="vi-VN" sz="2400" dirty="0"/>
          </a:p>
        </p:txBody>
      </p:sp>
      <p:pic>
        <p:nvPicPr>
          <p:cNvPr id="4" name="Graphic 3" descr="User with solid fill">
            <a:extLst>
              <a:ext uri="{FF2B5EF4-FFF2-40B4-BE49-F238E27FC236}">
                <a16:creationId xmlns:a16="http://schemas.microsoft.com/office/drawing/2014/main" id="{BA1E7872-D25E-97F7-577E-4E1F344F9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2943" y="1640185"/>
            <a:ext cx="1972310" cy="19723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CFF4C6-EC16-F8EF-E555-79B857FCC0A2}"/>
              </a:ext>
            </a:extLst>
          </p:cNvPr>
          <p:cNvSpPr txBox="1"/>
          <p:nvPr/>
        </p:nvSpPr>
        <p:spPr>
          <a:xfrm>
            <a:off x="860764" y="3713780"/>
            <a:ext cx="433764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Nguyễn Thành Long</a:t>
            </a:r>
            <a:endParaRPr lang="vi-VN" sz="3800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0212501-4804-B616-D96C-4952FFEC9CA3}"/>
              </a:ext>
            </a:extLst>
          </p:cNvPr>
          <p:cNvGrpSpPr/>
          <p:nvPr/>
        </p:nvGrpSpPr>
        <p:grpSpPr>
          <a:xfrm>
            <a:off x="5317490" y="1640185"/>
            <a:ext cx="6132830" cy="4496455"/>
            <a:chOff x="7015480" y="2043802"/>
            <a:chExt cx="4185920" cy="400139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DD21866-84B4-5D86-7A59-552B8D84F590}"/>
                </a:ext>
              </a:extLst>
            </p:cNvPr>
            <p:cNvSpPr/>
            <p:nvPr/>
          </p:nvSpPr>
          <p:spPr>
            <a:xfrm>
              <a:off x="7015480" y="2043802"/>
              <a:ext cx="4104640" cy="4001398"/>
            </a:xfrm>
            <a:prstGeom prst="roundRect">
              <a:avLst>
                <a:gd name="adj" fmla="val 5587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dirty="0">
                <a:solidFill>
                  <a:schemeClr val="tx1"/>
                </a:solidFill>
                <a:highlight>
                  <a:srgbClr val="808080"/>
                </a:highlight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5076D4-4C38-DB1F-91DE-53A70AB1A818}"/>
                </a:ext>
              </a:extLst>
            </p:cNvPr>
            <p:cNvSpPr/>
            <p:nvPr/>
          </p:nvSpPr>
          <p:spPr>
            <a:xfrm>
              <a:off x="7096760" y="2043802"/>
              <a:ext cx="4104640" cy="4001398"/>
            </a:xfrm>
            <a:prstGeom prst="roundRect">
              <a:avLst>
                <a:gd name="adj" fmla="val 5587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dirty="0">
                <a:solidFill>
                  <a:schemeClr val="tx1"/>
                </a:solidFill>
                <a:highlight>
                  <a:srgbClr val="808080"/>
                </a:highlight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5E41251-DF71-08B1-509C-650FDB80004A}"/>
              </a:ext>
            </a:extLst>
          </p:cNvPr>
          <p:cNvSpPr txBox="1"/>
          <p:nvPr/>
        </p:nvSpPr>
        <p:spPr>
          <a:xfrm>
            <a:off x="6458585" y="1872231"/>
            <a:ext cx="3791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MODULE PHỤ TRÁCH</a:t>
            </a:r>
            <a:endParaRPr lang="vi-VN" sz="3200" b="1" dirty="0">
              <a:solidFill>
                <a:schemeClr val="bg1"/>
              </a:solidFill>
            </a:endParaRPr>
          </a:p>
        </p:txBody>
      </p: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1A644DFF-5CDB-5F16-A785-DBA6E00439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5945" y="1810676"/>
            <a:ext cx="802640" cy="8026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923795-D99F-4FD2-BDB1-8DF72F8B6EBF}"/>
              </a:ext>
            </a:extLst>
          </p:cNvPr>
          <p:cNvSpPr txBox="1"/>
          <p:nvPr/>
        </p:nvSpPr>
        <p:spPr>
          <a:xfrm>
            <a:off x="5514975" y="2457006"/>
            <a:ext cx="5935345" cy="3483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Quản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danh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sách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sản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phẩm</a:t>
            </a:r>
            <a:endParaRPr lang="vi-VN" sz="3000" b="1" i="0" dirty="0">
              <a:solidFill>
                <a:srgbClr val="EEEEE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Quản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loại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sản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phẩm</a:t>
            </a:r>
            <a:endParaRPr lang="vi-VN" sz="3000" b="1" i="0" dirty="0">
              <a:solidFill>
                <a:srgbClr val="EEEEE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Quản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hình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ảnh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Tích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hợp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giao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diện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quản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trị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xử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b="1" i="0" dirty="0" err="1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sz="3000" b="1" i="0" dirty="0">
                <a:solidFill>
                  <a:srgbClr val="EEEEE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Database</a:t>
            </a:r>
            <a:endParaRPr lang="vi-VN" sz="3000" b="1" i="0" dirty="0">
              <a:solidFill>
                <a:srgbClr val="EEEEE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DC828FC-AFCF-D616-4E54-FBEB1B622B45}"/>
              </a:ext>
            </a:extLst>
          </p:cNvPr>
          <p:cNvSpPr/>
          <p:nvPr/>
        </p:nvSpPr>
        <p:spPr>
          <a:xfrm>
            <a:off x="4378960" y="6311636"/>
            <a:ext cx="2112571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0070C0"/>
                </a:solidFill>
              </a:rPr>
              <a:t>.Net</a:t>
            </a:r>
            <a:r>
              <a:rPr lang="en-US" sz="1600" dirty="0">
                <a:solidFill>
                  <a:srgbClr val="0070C0"/>
                </a:solidFill>
              </a:rPr>
              <a:t> Framework 4.x</a:t>
            </a:r>
            <a:endParaRPr lang="vi-VN" sz="1600" dirty="0">
              <a:solidFill>
                <a:srgbClr val="0070C0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832905D-D25B-B340-6AE6-08712AB8B9F8}"/>
              </a:ext>
            </a:extLst>
          </p:cNvPr>
          <p:cNvSpPr/>
          <p:nvPr/>
        </p:nvSpPr>
        <p:spPr>
          <a:xfrm>
            <a:off x="6714079" y="6307131"/>
            <a:ext cx="2032037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ADO.NET</a:t>
            </a:r>
            <a:endParaRPr lang="vi-VN" sz="1600" dirty="0">
              <a:solidFill>
                <a:srgbClr val="0070C0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8F5257B-1545-FADD-A283-9D5AC5B5ED00}"/>
              </a:ext>
            </a:extLst>
          </p:cNvPr>
          <p:cNvSpPr/>
          <p:nvPr/>
        </p:nvSpPr>
        <p:spPr>
          <a:xfrm>
            <a:off x="8968664" y="6307131"/>
            <a:ext cx="1281253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rgbClr val="0070C0"/>
                </a:solidFill>
              </a:rPr>
              <a:t>SQL Server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1968F7B-4FE3-BBAA-B77C-88A244DD0ACE}"/>
              </a:ext>
            </a:extLst>
          </p:cNvPr>
          <p:cNvSpPr/>
          <p:nvPr/>
        </p:nvSpPr>
        <p:spPr>
          <a:xfrm>
            <a:off x="10472465" y="6323001"/>
            <a:ext cx="1567135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rgbClr val="0070C0"/>
                </a:solidFill>
              </a:rPr>
              <a:t>Winform</a:t>
            </a:r>
            <a:endParaRPr lang="vi-VN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2529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E26DF-8D53-250E-4529-4E5F51C2E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E17F5A-EC00-E68A-615D-3ADDC229D0C1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E730D1-D265-DC0A-1287-B0038B23C526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3. 2.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Quản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endParaRPr lang="vi-V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9890D-5F6C-9AEB-FA06-64B8F47F0F1C}"/>
              </a:ext>
            </a:extLst>
          </p:cNvPr>
          <p:cNvSpPr txBox="1"/>
          <p:nvPr/>
        </p:nvSpPr>
        <p:spPr>
          <a:xfrm>
            <a:off x="4075054" y="1453363"/>
            <a:ext cx="4041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dirty="0" err="1"/>
              <a:t>Phân</a:t>
            </a:r>
            <a:r>
              <a:rPr lang="en-US" dirty="0"/>
              <a:t> Quyền</a:t>
            </a:r>
            <a:endParaRPr lang="vi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C835D9-A649-0D79-D16F-82C433F9E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0" y="2284360"/>
            <a:ext cx="7213600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291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6D23B-E722-8AFE-FB6C-D2EACC8EA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36A054-0AEC-3C75-44C0-E4D7D0AB2CBB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D3246-A191-1A35-704F-7FAAB7C94B0D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3. 2.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endParaRPr lang="vi-V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9D5DE0-FA65-8A99-4845-F3E5D48A7120}"/>
              </a:ext>
            </a:extLst>
          </p:cNvPr>
          <p:cNvSpPr txBox="1"/>
          <p:nvPr/>
        </p:nvSpPr>
        <p:spPr>
          <a:xfrm>
            <a:off x="2840167" y="1372083"/>
            <a:ext cx="6511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Stored Procedures</a:t>
            </a:r>
            <a:r>
              <a:rPr lang="en-US" dirty="0"/>
              <a:t> + Transaction</a:t>
            </a:r>
          </a:p>
          <a:p>
            <a:endParaRPr lang="vi-V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BFB540-E8B3-280C-332E-DDA8215FA0DD}"/>
              </a:ext>
            </a:extLst>
          </p:cNvPr>
          <p:cNvGraphicFramePr>
            <a:graphicFrameLocks noGrp="1"/>
          </p:cNvGraphicFramePr>
          <p:nvPr/>
        </p:nvGraphicFramePr>
        <p:xfrm>
          <a:off x="1319349" y="2004828"/>
          <a:ext cx="9966960" cy="4723172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322320">
                  <a:extLst>
                    <a:ext uri="{9D8B030D-6E8A-4147-A177-3AD203B41FA5}">
                      <a16:colId xmlns:a16="http://schemas.microsoft.com/office/drawing/2014/main" val="3939146890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1218674392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54151058"/>
                    </a:ext>
                  </a:extLst>
                </a:gridCol>
              </a:tblGrid>
              <a:tr h="28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Stored Procedure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Chức năng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Công dụng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733120205"/>
                  </a:ext>
                </a:extLst>
              </a:tr>
              <a:tr h="438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sp_ThemSanPham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Thêm sản phẩm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500"/>
                        <a:t>Lưu sản phẩm mới vào Database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538807119"/>
                  </a:ext>
                </a:extLst>
              </a:tr>
              <a:tr h="49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sp_SuaSanPham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Sửa sản phẩm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/>
                        <a:t>Cập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nhật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thông</a:t>
                      </a:r>
                      <a:r>
                        <a:rPr lang="en-US" sz="1500" dirty="0"/>
                        <a:t> tin </a:t>
                      </a:r>
                      <a:r>
                        <a:rPr lang="en-US" sz="1500" dirty="0" err="1"/>
                        <a:t>sản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phẩm</a:t>
                      </a:r>
                      <a:r>
                        <a:rPr lang="en-US" sz="1500" dirty="0"/>
                        <a:t> (</a:t>
                      </a:r>
                      <a:r>
                        <a:rPr lang="en-US" sz="1500" dirty="0" err="1"/>
                        <a:t>tên</a:t>
                      </a:r>
                      <a:r>
                        <a:rPr lang="en-US" sz="1500" dirty="0"/>
                        <a:t>, </a:t>
                      </a:r>
                      <a:r>
                        <a:rPr lang="en-US" sz="1500" dirty="0" err="1"/>
                        <a:t>giá</a:t>
                      </a:r>
                      <a:r>
                        <a:rPr lang="en-US" sz="1500" dirty="0"/>
                        <a:t>, </a:t>
                      </a:r>
                      <a:r>
                        <a:rPr lang="en-US" sz="1500" dirty="0" err="1"/>
                        <a:t>loại</a:t>
                      </a:r>
                      <a:r>
                        <a:rPr lang="en-US" sz="1500" dirty="0"/>
                        <a:t>, </a:t>
                      </a:r>
                      <a:r>
                        <a:rPr lang="en-US" sz="1500" dirty="0" err="1"/>
                        <a:t>trạng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thái</a:t>
                      </a:r>
                      <a:r>
                        <a:rPr lang="en-US" sz="1500" dirty="0"/>
                        <a:t>…)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542387397"/>
                  </a:ext>
                </a:extLst>
              </a:tr>
              <a:tr h="49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sp_XoaSanPham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/>
                        <a:t>Xóa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sản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phẩm</a:t>
                      </a:r>
                      <a:endParaRPr lang="en-US" sz="15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Xóa sản phẩm nếu không còn dữ liệu liên quan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648943043"/>
                  </a:ext>
                </a:extLst>
              </a:tr>
              <a:tr h="28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sp_ThemLoaiSanPham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Thêm loại sản phẩm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/>
                        <a:t>Tạo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loại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sản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phẩm</a:t>
                      </a:r>
                      <a:r>
                        <a:rPr lang="en-US" sz="1500" dirty="0"/>
                        <a:t> (Category) </a:t>
                      </a:r>
                      <a:r>
                        <a:rPr lang="en-US" sz="1500" dirty="0" err="1"/>
                        <a:t>mới</a:t>
                      </a:r>
                      <a:endParaRPr lang="en-US" sz="1500" dirty="0"/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699745382"/>
                  </a:ext>
                </a:extLst>
              </a:tr>
              <a:tr h="748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sp_SuaLoaiSanPham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Sửa loại sản phẩm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/>
                        <a:t>Kiểm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tồn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tại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kiểm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tra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trùng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tên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và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cập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nhật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tên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loại</a:t>
                      </a:r>
                      <a:r>
                        <a:rPr lang="en-US" sz="1600" dirty="0"/>
                        <a:t> SP. </a:t>
                      </a:r>
                      <a:r>
                        <a:rPr lang="en-US" sz="1600" dirty="0" err="1"/>
                        <a:t>Trả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mã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kết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quả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để</a:t>
                      </a:r>
                      <a:r>
                        <a:rPr lang="en-US" sz="1600" dirty="0"/>
                        <a:t> C# </a:t>
                      </a:r>
                      <a:r>
                        <a:rPr lang="en-US" sz="1600" dirty="0" err="1"/>
                        <a:t>xử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lý</a:t>
                      </a:r>
                      <a:r>
                        <a:rPr lang="en-US" sz="1600" dirty="0"/>
                        <a:t>.</a:t>
                      </a:r>
                      <a:endParaRPr lang="en-US" sz="1500" dirty="0"/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825569028"/>
                  </a:ext>
                </a:extLst>
              </a:tr>
              <a:tr h="49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sp_XoaLoaiSanPham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Xóa loại sản phẩm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Xóa loại nếu không còn sản phẩm thuộc loại đó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785460377"/>
                  </a:ext>
                </a:extLst>
              </a:tr>
              <a:tr h="438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sp_HinhAnh_Them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/>
                        <a:t>Thêm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hình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ảnh</a:t>
                      </a:r>
                      <a:endParaRPr lang="en-US" sz="15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500"/>
                        <a:t>Lưu hình ảnh mới cho sản phẩm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776981488"/>
                  </a:ext>
                </a:extLst>
              </a:tr>
              <a:tr h="494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sp_HinhAnh_Sua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Sửa hình ảnh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Cập nhật thông tin hoặc thay đổi hình ảnh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4202068050"/>
                  </a:ext>
                </a:extLst>
              </a:tr>
              <a:tr h="281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sp_HinhAnh_Xoa</a:t>
                      </a:r>
                      <a:endParaRPr lang="en-US" sz="15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Xóa hình ảnh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 err="1"/>
                        <a:t>Xóa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hình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ảnh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khỏi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hệ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thống</a:t>
                      </a:r>
                      <a:endParaRPr lang="en-US" sz="1500" dirty="0"/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572516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279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6FF42-C609-96C0-4428-85BB89FB0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B0D2F4-5B95-80B5-769C-897E81BB8C35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B0913-8759-898E-EF66-1645E74070BD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3. 2.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endParaRPr lang="vi-V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10B15-3C7A-7E37-556B-0B5F7AFCD258}"/>
              </a:ext>
            </a:extLst>
          </p:cNvPr>
          <p:cNvSpPr txBox="1"/>
          <p:nvPr/>
        </p:nvSpPr>
        <p:spPr>
          <a:xfrm>
            <a:off x="2840167" y="1372083"/>
            <a:ext cx="6511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Function</a:t>
            </a:r>
            <a:endParaRPr lang="vi-V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120651-5A2F-2648-F651-A8D8E07A818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18414"/>
          <a:ext cx="10515600" cy="21031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829086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621596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0255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Tên hàm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Chức năng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Công dụng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308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fn_TimKiemSanPham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Hàm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tìm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kiếm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sản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phẩm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theo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hoặc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tên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Trả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về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sách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sản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phẩm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hợp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với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điều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tìm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kiếm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MaSP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TenSP</a:t>
                      </a:r>
                      <a:r>
                        <a:rPr lang="en-US" dirty="0"/>
                        <a:t>). </a:t>
                      </a:r>
                      <a:r>
                        <a:rPr lang="en-US" dirty="0" err="1"/>
                        <a:t>Hỗ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trợ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lọc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linh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hoạt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cho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phép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truyền</a:t>
                      </a:r>
                      <a:r>
                        <a:rPr lang="en-US" dirty="0"/>
                        <a:t> 1 </a:t>
                      </a:r>
                      <a:r>
                        <a:rPr lang="en-US" dirty="0" err="1"/>
                        <a:t>hoặc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cả</a:t>
                      </a:r>
                      <a:r>
                        <a:rPr lang="en-US" dirty="0"/>
                        <a:t> 2 </a:t>
                      </a:r>
                      <a:r>
                        <a:rPr lang="en-US" dirty="0" err="1"/>
                        <a:t>tham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số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hoặc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rỗng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để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hiển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toàn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bộ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danh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sách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543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85C6DA5-28C2-82EE-E4D7-398B31F4549E}"/>
              </a:ext>
            </a:extLst>
          </p:cNvPr>
          <p:cNvSpPr txBox="1"/>
          <p:nvPr/>
        </p:nvSpPr>
        <p:spPr>
          <a:xfrm>
            <a:off x="795020" y="4282183"/>
            <a:ext cx="1060196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fn_TimKiemSanPham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@MaSP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khớp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@TenSP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LIKE).</a:t>
            </a:r>
          </a:p>
          <a:p>
            <a:pPr>
              <a:lnSpc>
                <a:spcPct val="15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9230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9BF9D-8265-4C53-7A82-B3AFDABF8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80D24B-A332-8203-C788-6BB33E074ED1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01ADA3-509B-8A19-6DAD-448F64C405D9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3. 2.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endParaRPr lang="vi-V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332355-147B-A6A6-F65B-610644F9FB6F}"/>
              </a:ext>
            </a:extLst>
          </p:cNvPr>
          <p:cNvSpPr txBox="1"/>
          <p:nvPr/>
        </p:nvSpPr>
        <p:spPr>
          <a:xfrm>
            <a:off x="2840167" y="1372083"/>
            <a:ext cx="6511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Trigger + Cursor</a:t>
            </a:r>
            <a:endParaRPr lang="vi-V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DB0456-65C0-ACAA-9F8D-3E054174754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21800"/>
          <a:ext cx="10515600" cy="301752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5328943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481672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7211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Tên Trigger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Chức năng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Công dụng</a:t>
                      </a:r>
                      <a:endParaRPr lang="en-US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301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/>
                        <a:t>trg_XoaTuanTuTheoLoai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Xóa dữ liệu theo chuỗi khi xóa loại sản phẩm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Tự động xóa toàn bộ hình ảnh → sản phẩm → loại sản phẩm khi loại bị xóa. Giúp tránh dữ liệu rác, đảm bảo toàn vẹn dữ liệu.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3108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 err="1"/>
                        <a:t>trg_OneMainImage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Đảm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bảo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duy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nhất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một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ảnh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chính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cho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mỗi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sản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phẩm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1800" dirty="0"/>
                        <a:t>Khi một ảnh được gán IsMain = 1, trigger tự động chuyển tất cả ảnh khác của sản phẩm thành IsMain = 0. Giữ đúng 1 ảnh đại diện mỗi sản phẩm.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421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311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4029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huấn</a:t>
            </a:r>
            <a:r>
              <a:rPr lang="en-US" sz="2400" dirty="0"/>
              <a:t> </a:t>
            </a:r>
            <a:r>
              <a:rPr lang="en-US" sz="2400" dirty="0" err="1"/>
              <a:t>luyện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endParaRPr lang="vi-VN"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3BF560-3E60-50F2-1D24-26770B37EC72}"/>
              </a:ext>
            </a:extLst>
          </p:cNvPr>
          <p:cNvGrpSpPr/>
          <p:nvPr/>
        </p:nvGrpSpPr>
        <p:grpSpPr>
          <a:xfrm>
            <a:off x="156924" y="1748659"/>
            <a:ext cx="4729316" cy="3418860"/>
            <a:chOff x="0" y="2164618"/>
            <a:chExt cx="4729316" cy="3418860"/>
          </a:xfrm>
        </p:grpSpPr>
        <p:pic>
          <p:nvPicPr>
            <p:cNvPr id="4" name="Graphic 3" descr="User with solid fill">
              <a:extLst>
                <a:ext uri="{FF2B5EF4-FFF2-40B4-BE49-F238E27FC236}">
                  <a16:creationId xmlns:a16="http://schemas.microsoft.com/office/drawing/2014/main" id="{6CEB3658-4746-BA08-BFF9-42ECCC98F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78503" y="2164618"/>
              <a:ext cx="1972310" cy="197231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8A4F7DF-5705-2A01-EE41-7DCF399A9B5E}"/>
                </a:ext>
              </a:extLst>
            </p:cNvPr>
            <p:cNvSpPr txBox="1"/>
            <p:nvPr/>
          </p:nvSpPr>
          <p:spPr>
            <a:xfrm>
              <a:off x="0" y="4136928"/>
              <a:ext cx="472931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/>
                <a:t>Nguyễn Hoàng Thành</a:t>
              </a:r>
              <a:endParaRPr lang="vi-VN" sz="4400" b="1" dirty="0"/>
            </a:p>
          </p:txBody>
        </p:sp>
      </p:grpSp>
      <p:pic>
        <p:nvPicPr>
          <p:cNvPr id="13" name="Graphic 12" descr="Internet with solid fill">
            <a:extLst>
              <a:ext uri="{FF2B5EF4-FFF2-40B4-BE49-F238E27FC236}">
                <a16:creationId xmlns:a16="http://schemas.microsoft.com/office/drawing/2014/main" id="{663FF7EA-0742-ED30-BA0E-8889F54A21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5945" y="1810676"/>
            <a:ext cx="802640" cy="80264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4129281-FF74-CFD9-40FD-3677B699C63E}"/>
              </a:ext>
            </a:extLst>
          </p:cNvPr>
          <p:cNvGrpSpPr/>
          <p:nvPr/>
        </p:nvGrpSpPr>
        <p:grpSpPr>
          <a:xfrm>
            <a:off x="5234086" y="1275125"/>
            <a:ext cx="6491052" cy="5198535"/>
            <a:chOff x="5317490" y="1640185"/>
            <a:chExt cx="6132830" cy="472988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02EAA7D-0385-B73B-82E0-A01E83B74FC1}"/>
                </a:ext>
              </a:extLst>
            </p:cNvPr>
            <p:cNvGrpSpPr/>
            <p:nvPr/>
          </p:nvGrpSpPr>
          <p:grpSpPr>
            <a:xfrm>
              <a:off x="5317490" y="1640185"/>
              <a:ext cx="6132830" cy="4016694"/>
              <a:chOff x="7015480" y="2043801"/>
              <a:chExt cx="4185920" cy="3574458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9E855757-224F-4967-7801-A8F8104918B9}"/>
                  </a:ext>
                </a:extLst>
              </p:cNvPr>
              <p:cNvSpPr/>
              <p:nvPr/>
            </p:nvSpPr>
            <p:spPr>
              <a:xfrm>
                <a:off x="7015480" y="2043802"/>
                <a:ext cx="4104640" cy="3574457"/>
              </a:xfrm>
              <a:prstGeom prst="roundRect">
                <a:avLst>
                  <a:gd name="adj" fmla="val 5587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dirty="0">
                  <a:solidFill>
                    <a:schemeClr val="tx1"/>
                  </a:solidFill>
                  <a:highlight>
                    <a:srgbClr val="808080"/>
                  </a:highlight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52A84FC-BBE0-C2E5-DDD5-18F1C6BBCAC1}"/>
                  </a:ext>
                </a:extLst>
              </p:cNvPr>
              <p:cNvSpPr/>
              <p:nvPr/>
            </p:nvSpPr>
            <p:spPr>
              <a:xfrm>
                <a:off x="7096760" y="2043801"/>
                <a:ext cx="4104640" cy="3574457"/>
              </a:xfrm>
              <a:prstGeom prst="roundRect">
                <a:avLst>
                  <a:gd name="adj" fmla="val 5587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dirty="0">
                  <a:solidFill>
                    <a:schemeClr val="tx1"/>
                  </a:solidFill>
                  <a:highlight>
                    <a:srgbClr val="808080"/>
                  </a:highlight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6EDEF9A-383C-5AC2-EE9A-364B662172AF}"/>
                </a:ext>
              </a:extLst>
            </p:cNvPr>
            <p:cNvSpPr txBox="1"/>
            <p:nvPr/>
          </p:nvSpPr>
          <p:spPr>
            <a:xfrm>
              <a:off x="6458585" y="1872231"/>
              <a:ext cx="37913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MODULE PHỤ TRÁCH</a:t>
              </a:r>
              <a:endParaRPr lang="vi-VN" sz="32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380AA78-4A1F-709A-1104-9F5CFF929191}"/>
                </a:ext>
              </a:extLst>
            </p:cNvPr>
            <p:cNvSpPr txBox="1"/>
            <p:nvPr/>
          </p:nvSpPr>
          <p:spPr>
            <a:xfrm>
              <a:off x="5514975" y="2457006"/>
              <a:ext cx="5935345" cy="3913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vi-VN" sz="2400" b="1" i="0" dirty="0">
                  <a:solidFill>
                    <a:srgbClr val="EEEEEE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Actor huấn luyện viên:</a:t>
              </a:r>
            </a:p>
            <a:p>
              <a:pPr marL="914400" lvl="1" indent="-45720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vi-VN" sz="2400" b="1" i="0" dirty="0">
                  <a:solidFill>
                    <a:srgbClr val="EEEEEE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Xem lịch dạy, chỉnh sửa lịch dạy (CRUD)</a:t>
              </a:r>
            </a:p>
            <a:p>
              <a:pPr marL="914400" lvl="1" indent="-45720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vi-VN" sz="2400" b="1" i="0" dirty="0">
                  <a:solidFill>
                    <a:srgbClr val="EEEEEE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Xem danh sách lớp, chỉnh sửa thông tin lớp (CRUD)</a:t>
              </a:r>
            </a:p>
            <a:p>
              <a:pPr marL="914400" lvl="1" indent="-457200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vi-VN" sz="2400" b="1" i="0" dirty="0">
                  <a:solidFill>
                    <a:srgbClr val="EEEEEE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Xem danh sách khách cần PT, nhận khách PT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1C25BD-11CA-171C-9CC7-C6B8DB90F4C8}"/>
              </a:ext>
            </a:extLst>
          </p:cNvPr>
          <p:cNvSpPr/>
          <p:nvPr/>
        </p:nvSpPr>
        <p:spPr>
          <a:xfrm>
            <a:off x="5759063" y="5896804"/>
            <a:ext cx="1814016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i="0" dirty="0">
                <a:solidFill>
                  <a:srgbClr val="0070C0"/>
                </a:solidFill>
                <a:effectLst/>
                <a:latin typeface="Ubuntu" panose="020B0504030602030204" pitchFamily="34" charset="0"/>
              </a:rPr>
              <a:t>ASP.NET MVC 5</a:t>
            </a:r>
            <a:endParaRPr lang="vi-VN" sz="1600" dirty="0">
              <a:solidFill>
                <a:srgbClr val="0070C0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E03491-3977-8765-EECA-AD761D529149}"/>
              </a:ext>
            </a:extLst>
          </p:cNvPr>
          <p:cNvSpPr/>
          <p:nvPr/>
        </p:nvSpPr>
        <p:spPr>
          <a:xfrm>
            <a:off x="7795627" y="5892299"/>
            <a:ext cx="2032037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rgbClr val="0070C0"/>
                </a:solidFill>
              </a:rPr>
              <a:t>Entity Framework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5439C20-AE5B-06F8-D975-E6D1BE32A339}"/>
              </a:ext>
            </a:extLst>
          </p:cNvPr>
          <p:cNvSpPr/>
          <p:nvPr/>
        </p:nvSpPr>
        <p:spPr>
          <a:xfrm>
            <a:off x="10050212" y="5892299"/>
            <a:ext cx="1281253" cy="333059"/>
          </a:xfrm>
          <a:prstGeom prst="roundRect">
            <a:avLst>
              <a:gd name="adj" fmla="val 1325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solidFill>
                  <a:srgbClr val="0070C0"/>
                </a:solidFill>
              </a:rPr>
              <a:t>SQL Server</a:t>
            </a:r>
          </a:p>
        </p:txBody>
      </p:sp>
    </p:spTree>
    <p:extLst>
      <p:ext uri="{BB962C8B-B14F-4D97-AF65-F5344CB8AC3E}">
        <p14:creationId xmlns:p14="http://schemas.microsoft.com/office/powerpoint/2010/main" val="21486444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huấn</a:t>
            </a:r>
            <a:r>
              <a:rPr lang="en-US" sz="2400" dirty="0"/>
              <a:t> </a:t>
            </a:r>
            <a:r>
              <a:rPr lang="en-US" sz="2400" dirty="0" err="1"/>
              <a:t>luyện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endParaRPr lang="vi-V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6250B4-EBCF-B127-7AAA-5942A28B6395}"/>
              </a:ext>
            </a:extLst>
          </p:cNvPr>
          <p:cNvSpPr txBox="1"/>
          <p:nvPr/>
        </p:nvSpPr>
        <p:spPr>
          <a:xfrm>
            <a:off x="4075054" y="1453363"/>
            <a:ext cx="4041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dirty="0"/>
              <a:t>User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endParaRPr lang="vi-V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A8B639-5E49-9581-CE5F-9612CCA91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" y="2571851"/>
            <a:ext cx="5620534" cy="29531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554BB0-C892-3261-A539-2F16682E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828" y="3024351"/>
            <a:ext cx="4839375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0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FACC0-7AA6-E6A9-1A77-B7E08B7E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5710A9-5BAD-424E-69DB-6FFE21744586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90157-9010-9A3A-3143-1CD3B83EEECA}"/>
              </a:ext>
            </a:extLst>
          </p:cNvPr>
          <p:cNvSpPr txBox="1"/>
          <p:nvPr/>
        </p:nvSpPr>
        <p:spPr>
          <a:xfrm>
            <a:off x="2840167" y="1372083"/>
            <a:ext cx="6511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Trigger &amp; Function</a:t>
            </a:r>
            <a:endParaRPr lang="vi-VN" dirty="0"/>
          </a:p>
          <a:p>
            <a:endParaRPr lang="vi-V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3C6AFE-3B04-4701-0024-88422D5924FE}"/>
              </a:ext>
            </a:extLst>
          </p:cNvPr>
          <p:cNvGraphicFramePr>
            <a:graphicFrameLocks noGrp="1"/>
          </p:cNvGraphicFramePr>
          <p:nvPr/>
        </p:nvGraphicFramePr>
        <p:xfrm>
          <a:off x="963561" y="2058030"/>
          <a:ext cx="10028904" cy="4043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97870">
                  <a:extLst>
                    <a:ext uri="{9D8B030D-6E8A-4147-A177-3AD203B41FA5}">
                      <a16:colId xmlns:a16="http://schemas.microsoft.com/office/drawing/2014/main" val="2623448325"/>
                    </a:ext>
                  </a:extLst>
                </a:gridCol>
                <a:gridCol w="6431034">
                  <a:extLst>
                    <a:ext uri="{9D8B030D-6E8A-4147-A177-3AD203B41FA5}">
                      <a16:colId xmlns:a16="http://schemas.microsoft.com/office/drawing/2014/main" val="3435014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Trigger &amp; function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Chức năn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092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trg_CheckNgayBDKT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Kiểm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ngày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bắt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đầu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không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được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nhỏ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hơn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ngày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kết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thúc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của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LopHoc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78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trg_KiemTraNhanVienChuyenMon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Kiểm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khi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thêm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nhân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viên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vào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LopHoc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có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đúng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chuyên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môn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không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69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trg_TuDienSoBuoi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Tự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động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điền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buổi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của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LopHoc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dựa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vào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lượng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lịch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77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trg_TuDienSiSo</a:t>
                      </a: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Tự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động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điền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sĩ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học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viên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của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LopHoc</a:t>
                      </a:r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dựa</a:t>
                      </a:r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vào</a:t>
                      </a:r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số</a:t>
                      </a:r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lượng</a:t>
                      </a:r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học</a:t>
                      </a:r>
                      <a:r>
                        <a:rPr lang="en-US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viên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16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trg_ThemMaNV</a:t>
                      </a:r>
                      <a:endParaRPr lang="en-US" sz="1800" b="1" i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Tự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động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điền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MaNV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vào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LichLop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dựa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vào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hlv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quản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lý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lớp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đó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khi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để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null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372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trg_KiemTraTrungLichNhanVien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Tự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động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kiểm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lịch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của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nhân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viên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có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bị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trùng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LichLop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hoặc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LichPT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tại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LichLop</a:t>
                      </a:r>
                      <a:endParaRPr lang="vi-VN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66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f_KiemTraNhanVienCoChucVu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Kiểm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nhân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viên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có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phải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là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hlv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hoặc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pt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không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62881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7626B35-EFED-1AFB-2990-C76E7FCE2C21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huấn</a:t>
            </a:r>
            <a:r>
              <a:rPr lang="en-US" sz="2400" dirty="0"/>
              <a:t> </a:t>
            </a:r>
            <a:r>
              <a:rPr lang="en-US" sz="2400" dirty="0" err="1"/>
              <a:t>luyện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9584796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3. </a:t>
            </a:r>
            <a:r>
              <a:rPr lang="en-US" sz="3600" b="1" dirty="0" err="1"/>
              <a:t>Mô</a:t>
            </a:r>
            <a:r>
              <a:rPr lang="en-US" sz="3600" b="1" dirty="0"/>
              <a:t> </a:t>
            </a:r>
            <a:r>
              <a:rPr lang="en-US" sz="3600" b="1" dirty="0" err="1"/>
              <a:t>tả</a:t>
            </a:r>
            <a:r>
              <a:rPr lang="en-US" sz="3600" b="1" dirty="0"/>
              <a:t> </a:t>
            </a:r>
            <a:r>
              <a:rPr lang="en-US" sz="3600" b="1" dirty="0" err="1"/>
              <a:t>ứng</a:t>
            </a:r>
            <a:r>
              <a:rPr lang="en-US" sz="3600" b="1" dirty="0"/>
              <a:t> </a:t>
            </a:r>
            <a:r>
              <a:rPr lang="en-US" sz="3600" b="1" dirty="0" err="1"/>
              <a:t>dụng</a:t>
            </a:r>
            <a:endParaRPr lang="vi-V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DF098-0B2B-177A-F36A-3D34B5BE22F9}"/>
              </a:ext>
            </a:extLst>
          </p:cNvPr>
          <p:cNvSpPr txBox="1"/>
          <p:nvPr/>
        </p:nvSpPr>
        <p:spPr>
          <a:xfrm>
            <a:off x="2840167" y="1372083"/>
            <a:ext cx="6511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 algn="ctr"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vi-VN" dirty="0"/>
              <a:t>Stored Procedures &amp; Transaction</a:t>
            </a:r>
          </a:p>
          <a:p>
            <a:endParaRPr lang="vi-V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15617D-5FF5-BBC2-B117-FD25D6B50D98}"/>
              </a:ext>
            </a:extLst>
          </p:cNvPr>
          <p:cNvGraphicFramePr>
            <a:graphicFrameLocks noGrp="1"/>
          </p:cNvGraphicFramePr>
          <p:nvPr/>
        </p:nvGraphicFramePr>
        <p:xfrm>
          <a:off x="1590040" y="2572412"/>
          <a:ext cx="9011920" cy="2301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33026">
                  <a:extLst>
                    <a:ext uri="{9D8B030D-6E8A-4147-A177-3AD203B41FA5}">
                      <a16:colId xmlns:a16="http://schemas.microsoft.com/office/drawing/2014/main" val="2623448325"/>
                    </a:ext>
                  </a:extLst>
                </a:gridCol>
                <a:gridCol w="5778894">
                  <a:extLst>
                    <a:ext uri="{9D8B030D-6E8A-4147-A177-3AD203B41FA5}">
                      <a16:colId xmlns:a16="http://schemas.microsoft.com/office/drawing/2014/main" val="3435014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</a:t>
                      </a:r>
                      <a:r>
                        <a:rPr lang="vi-VN" sz="1800" b="1" i="0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rocedure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Chức năng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092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sp_ThemL</a:t>
                      </a:r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opHocVaLich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Thêm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cùng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lúc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lớp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lịch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Thêm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lịch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vào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ngày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bắt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đầu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mỗi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tuần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cho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đến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tuần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kết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thúc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vi-VN" sz="1800" b="0" i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★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vi-VN" sz="1800" b="0" i="0" kern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Transaction</a:t>
                      </a:r>
                      <a:r>
                        <a:rPr lang="vi-VN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 Rollback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khi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bị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lỗi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trigger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78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sp_ThemLichLop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Thêm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lịch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gọi</a:t>
                      </a: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function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f_KiemTraNhanVienCoChucVu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669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b="1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XoaLichVaLop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Xóa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cùng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lúc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lịch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lớp</a:t>
                      </a:r>
                      <a:endParaRPr lang="vi-V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7714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0816CBD-055E-5F4F-8121-9189AA2EDE72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huấn</a:t>
            </a:r>
            <a:r>
              <a:rPr lang="en-US" sz="2400" dirty="0"/>
              <a:t> </a:t>
            </a:r>
            <a:r>
              <a:rPr lang="en-US" sz="2400" dirty="0" err="1"/>
              <a:t>luyện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4196498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3600" b="1"/>
            </a:lvl1pPr>
          </a:lstStyle>
          <a:p>
            <a:r>
              <a:rPr lang="en-US" dirty="0"/>
              <a:t>4. </a:t>
            </a:r>
            <a:r>
              <a:rPr lang="vi-VN" dirty="0"/>
              <a:t>Cấu trúc hệ thống &amp; kết nối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4. 1. </a:t>
            </a:r>
            <a:r>
              <a:rPr lang="en-US" sz="2400" dirty="0" err="1"/>
              <a:t>Sơ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endParaRPr lang="vi-V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18AA6E-8853-7CC1-E858-B15074714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08" y="1268697"/>
            <a:ext cx="6757557" cy="4224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B60962-A25B-0C8A-DB73-FC6174932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495" y="5589303"/>
            <a:ext cx="8573892" cy="100797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3F07B-BFF0-CBF7-9C96-5E1BAE5C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39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342989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87395-C594-AF16-2D45-768A4C6EB8C3}"/>
              </a:ext>
            </a:extLst>
          </p:cNvPr>
          <p:cNvSpPr txBox="1"/>
          <p:nvPr/>
        </p:nvSpPr>
        <p:spPr>
          <a:xfrm>
            <a:off x="650240" y="21781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vi-VN"/>
            </a:defPPr>
            <a:lvl1pPr>
              <a:defRPr sz="3600" b="1"/>
            </a:lvl1pPr>
          </a:lstStyle>
          <a:p>
            <a:r>
              <a:rPr lang="en-US" dirty="0"/>
              <a:t>4. </a:t>
            </a:r>
            <a:r>
              <a:rPr lang="vi-VN" dirty="0"/>
              <a:t>Cấu trúc hệ thống &amp; kết nối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66143-F9CD-CB0C-3E31-158686346844}"/>
              </a:ext>
            </a:extLst>
          </p:cNvPr>
          <p:cNvSpPr txBox="1"/>
          <p:nvPr/>
        </p:nvSpPr>
        <p:spPr>
          <a:xfrm>
            <a:off x="650240" y="807032"/>
            <a:ext cx="721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4. 1.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chung</a:t>
            </a:r>
            <a:endParaRPr lang="vi-V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8EEE2-093F-D894-6E2F-1C29BDBAEC33}"/>
              </a:ext>
            </a:extLst>
          </p:cNvPr>
          <p:cNvSpPr txBox="1"/>
          <p:nvPr/>
        </p:nvSpPr>
        <p:spPr>
          <a:xfrm>
            <a:off x="650240" y="1757060"/>
            <a:ext cx="89387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vi-VN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Source of Truth (Nguồn chân lý duy nhất):</a:t>
            </a:r>
            <a:endParaRPr lang="vi-VN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vi-VN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Dữ liệu không bị phân tán trên các máy cá nhân.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vi-VN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Ví dụ: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Khi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cập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nhật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lớp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học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thì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lịch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học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bên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phía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UI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khách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hang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cũng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sẽ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thay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đổi</a:t>
            </a:r>
            <a:r>
              <a:rPr lang="vi-VN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br>
              <a:rPr lang="vi-V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vi-VN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vi-VN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Kiểm soát Đồng thời (Concurrency):</a:t>
            </a:r>
            <a:endParaRPr lang="vi-VN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vi-VN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Sử dụng cơ chế </a:t>
            </a:r>
            <a:r>
              <a:rPr lang="vi-VN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Locking &amp; Transaction</a:t>
            </a:r>
            <a:r>
              <a:rPr lang="vi-VN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của SQL Server để đảm bảo khi 2 người cùng mua 1 món hàng cuối cùng, chỉ 1 người mua được (như đã demo trong Stored Procedure).</a:t>
            </a:r>
          </a:p>
          <a:p>
            <a:endParaRPr lang="vi-V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AF324-5E46-BE55-7F2C-CF58318E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F2D2-2AA0-431F-9854-B2521847CC22}" type="slidenum">
              <a:rPr lang="vi-VN" smtClean="0"/>
              <a:t>40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9009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4335</Words>
  <Application>Microsoft Office PowerPoint</Application>
  <PresentationFormat>Widescreen</PresentationFormat>
  <Paragraphs>594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Calibri</vt:lpstr>
      <vt:lpstr>Calibri Light</vt:lpstr>
      <vt:lpstr>Consolas</vt:lpstr>
      <vt:lpstr>Courier New</vt:lpstr>
      <vt:lpstr>SegoeuiPc</vt:lpstr>
      <vt:lpstr>Source Sans Pro</vt:lpstr>
      <vt:lpstr>Times New Roman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NGA</dc:creator>
  <cp:lastModifiedBy>NGUYEN NGA</cp:lastModifiedBy>
  <cp:revision>39</cp:revision>
  <dcterms:created xsi:type="dcterms:W3CDTF">2025-11-28T05:46:30Z</dcterms:created>
  <dcterms:modified xsi:type="dcterms:W3CDTF">2025-12-02T13:08:29Z</dcterms:modified>
</cp:coreProperties>
</file>